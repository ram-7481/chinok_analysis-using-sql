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mdhr\OneDrive\Desktop\chinook%20music%20store\Chinook%20Analysis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Analysis.xlsx]3-Demographic Breakdown!PivotTable4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Demographic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'3-Demographic Breakdown'!$G$2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'3-Demographic Breakdown'!$F$3:$F$27</c:f>
              <c:strCache>
                <c:ptCount val="24"/>
                <c:pt idx="0">
                  <c:v>USA</c:v>
                </c:pt>
                <c:pt idx="1">
                  <c:v>Canada</c:v>
                </c:pt>
                <c:pt idx="2">
                  <c:v>France</c:v>
                </c:pt>
                <c:pt idx="3">
                  <c:v>Brazil</c:v>
                </c:pt>
                <c:pt idx="4">
                  <c:v>Germany</c:v>
                </c:pt>
                <c:pt idx="5">
                  <c:v>United Kingdom</c:v>
                </c:pt>
                <c:pt idx="6">
                  <c:v>Portugal</c:v>
                </c:pt>
                <c:pt idx="7">
                  <c:v>Czech Republic</c:v>
                </c:pt>
                <c:pt idx="8">
                  <c:v>India</c:v>
                </c:pt>
                <c:pt idx="9">
                  <c:v>Netherlands</c:v>
                </c:pt>
                <c:pt idx="10">
                  <c:v>Spain</c:v>
                </c:pt>
                <c:pt idx="11">
                  <c:v>Poland</c:v>
                </c:pt>
                <c:pt idx="12">
                  <c:v>Belgium</c:v>
                </c:pt>
                <c:pt idx="13">
                  <c:v>Denmark</c:v>
                </c:pt>
                <c:pt idx="14">
                  <c:v>Argentina</c:v>
                </c:pt>
                <c:pt idx="15">
                  <c:v>Norway</c:v>
                </c:pt>
                <c:pt idx="16">
                  <c:v>Hungary</c:v>
                </c:pt>
                <c:pt idx="17">
                  <c:v>Chile</c:v>
                </c:pt>
                <c:pt idx="18">
                  <c:v>Australia</c:v>
                </c:pt>
                <c:pt idx="19">
                  <c:v>Sweden</c:v>
                </c:pt>
                <c:pt idx="20">
                  <c:v>Austria</c:v>
                </c:pt>
                <c:pt idx="21">
                  <c:v>Finland</c:v>
                </c:pt>
                <c:pt idx="22">
                  <c:v>Italy</c:v>
                </c:pt>
                <c:pt idx="23">
                  <c:v>Ireland</c:v>
                </c:pt>
              </c:strCache>
            </c:strRef>
          </c:cat>
          <c:val>
            <c:numRef>
              <c:f>'3-Demographic Breakdown'!$G$3:$G$27</c:f>
              <c:numCache>
                <c:formatCode>General</c:formatCode>
                <c:ptCount val="24"/>
                <c:pt idx="0">
                  <c:v>13</c:v>
                </c:pt>
                <c:pt idx="1">
                  <c:v>8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3D-4BB5-A925-9E52265E03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23888"/>
        <c:axId val="20824368"/>
      </c:barChart>
      <c:catAx>
        <c:axId val="208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24368"/>
        <c:crosses val="autoZero"/>
        <c:auto val="1"/>
        <c:lblAlgn val="ctr"/>
        <c:lblOffset val="100"/>
        <c:noMultiLvlLbl val="0"/>
      </c:catAx>
      <c:valAx>
        <c:axId val="2082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2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Analysis.xlsx]4-Total Revenue and Number of!PivotTable5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Countries in terms of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</c:pivotFmt>
      <c:pivotFmt>
        <c:idx val="2"/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1394904349503868"/>
          <c:y val="6.0660906368741885E-2"/>
          <c:w val="0.75630405259112077"/>
          <c:h val="0.75746385923864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'4-Total Revenue and Number of'!$J$2</c:f>
              <c:strCache>
                <c:ptCount val="1"/>
                <c:pt idx="0">
                  <c:v>Sum of total_revenue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'4-Total Revenue and Number of'!$I$3:$I$13</c:f>
              <c:strCache>
                <c:ptCount val="10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  <c:pt idx="6">
                  <c:v>United Kingdom</c:v>
                </c:pt>
                <c:pt idx="7">
                  <c:v>Portugal</c:v>
                </c:pt>
                <c:pt idx="8">
                  <c:v>India</c:v>
                </c:pt>
                <c:pt idx="9">
                  <c:v>Ireland</c:v>
                </c:pt>
              </c:strCache>
            </c:strRef>
          </c:cat>
          <c:val>
            <c:numRef>
              <c:f>'4-Total Revenue and Number of'!$J$3:$J$13</c:f>
              <c:numCache>
                <c:formatCode>General</c:formatCode>
                <c:ptCount val="10"/>
                <c:pt idx="0">
                  <c:v>1040.49</c:v>
                </c:pt>
                <c:pt idx="1">
                  <c:v>535.59</c:v>
                </c:pt>
                <c:pt idx="2">
                  <c:v>427.68</c:v>
                </c:pt>
                <c:pt idx="3">
                  <c:v>389.07</c:v>
                </c:pt>
                <c:pt idx="4">
                  <c:v>334.62</c:v>
                </c:pt>
                <c:pt idx="5">
                  <c:v>273.24</c:v>
                </c:pt>
                <c:pt idx="6">
                  <c:v>245.51999999999998</c:v>
                </c:pt>
                <c:pt idx="7">
                  <c:v>185.13</c:v>
                </c:pt>
                <c:pt idx="8">
                  <c:v>183.15</c:v>
                </c:pt>
                <c:pt idx="9">
                  <c:v>114.84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C7-4549-86E9-6D465F5C730D}"/>
            </c:ext>
          </c:extLst>
        </c:ser>
        <c:ser>
          <c:idx val="1"/>
          <c:order val="1"/>
          <c:tx>
            <c:strRef>
              <c:f>'4-Total Revenue and Number of'!$K$2</c:f>
              <c:strCache>
                <c:ptCount val="1"/>
                <c:pt idx="0">
                  <c:v>Sum of num_of_invoices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'4-Total Revenue and Number of'!$I$3:$I$13</c:f>
              <c:strCache>
                <c:ptCount val="10"/>
                <c:pt idx="0">
                  <c:v>USA</c:v>
                </c:pt>
                <c:pt idx="1">
                  <c:v>Canada</c:v>
                </c:pt>
                <c:pt idx="2">
                  <c:v>Brazil</c:v>
                </c:pt>
                <c:pt idx="3">
                  <c:v>France</c:v>
                </c:pt>
                <c:pt idx="4">
                  <c:v>Germany</c:v>
                </c:pt>
                <c:pt idx="5">
                  <c:v>Czech Republic</c:v>
                </c:pt>
                <c:pt idx="6">
                  <c:v>United Kingdom</c:v>
                </c:pt>
                <c:pt idx="7">
                  <c:v>Portugal</c:v>
                </c:pt>
                <c:pt idx="8">
                  <c:v>India</c:v>
                </c:pt>
                <c:pt idx="9">
                  <c:v>Ireland</c:v>
                </c:pt>
              </c:strCache>
            </c:strRef>
          </c:cat>
          <c:val>
            <c:numRef>
              <c:f>'4-Total Revenue and Number of'!$K$3:$K$13</c:f>
              <c:numCache>
                <c:formatCode>General</c:formatCode>
                <c:ptCount val="10"/>
                <c:pt idx="0">
                  <c:v>131</c:v>
                </c:pt>
                <c:pt idx="1">
                  <c:v>76</c:v>
                </c:pt>
                <c:pt idx="2">
                  <c:v>61</c:v>
                </c:pt>
                <c:pt idx="3">
                  <c:v>50</c:v>
                </c:pt>
                <c:pt idx="4">
                  <c:v>41</c:v>
                </c:pt>
                <c:pt idx="5">
                  <c:v>30</c:v>
                </c:pt>
                <c:pt idx="6">
                  <c:v>28</c:v>
                </c:pt>
                <c:pt idx="7">
                  <c:v>29</c:v>
                </c:pt>
                <c:pt idx="8">
                  <c:v>21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C7-4549-86E9-6D465F5C73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850774784"/>
        <c:axId val="1850784384"/>
      </c:barChart>
      <c:catAx>
        <c:axId val="185077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0784384"/>
        <c:crosses val="autoZero"/>
        <c:auto val="1"/>
        <c:lblAlgn val="ctr"/>
        <c:lblOffset val="100"/>
        <c:noMultiLvlLbl val="0"/>
      </c:catAx>
      <c:valAx>
        <c:axId val="18507843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077478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Analysis.xlsx]1_2-Top Selling tracks!PivotTable1</c:name>
    <c:fmtId val="2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Selling Tracks in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2742185115582981E-2"/>
          <c:y val="0.17030181617294263"/>
          <c:w val="0.9426632190336609"/>
          <c:h val="0.622724686328970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'1_2-Top Selling tracks'!$G$3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'1_2-Top Selling tracks'!$F$4:$F$14</c:f>
              <c:strCache>
                <c:ptCount val="10"/>
                <c:pt idx="0">
                  <c:v>War Pigs</c:v>
                </c:pt>
                <c:pt idx="1">
                  <c:v>Scentless Apprentice</c:v>
                </c:pt>
                <c:pt idx="2">
                  <c:v>You Know I'm No Good (feat. Ghostface Killah)</c:v>
                </c:pt>
                <c:pt idx="3">
                  <c:v>Hey Joe</c:v>
                </c:pt>
                <c:pt idx="4">
                  <c:v>I Looked At You</c:v>
                </c:pt>
                <c:pt idx="5">
                  <c:v>Highway Chile</c:v>
                </c:pt>
                <c:pt idx="6">
                  <c:v>Night Of The Long Knives</c:v>
                </c:pt>
                <c:pt idx="7">
                  <c:v>Are You Experienced?</c:v>
                </c:pt>
                <c:pt idx="8">
                  <c:v>Untitled</c:v>
                </c:pt>
                <c:pt idx="9">
                  <c:v>Polly</c:v>
                </c:pt>
              </c:strCache>
            </c:strRef>
          </c:cat>
          <c:val>
            <c:numRef>
              <c:f>'1_2-Top Selling tracks'!$G$4:$G$14</c:f>
              <c:numCache>
                <c:formatCode>General</c:formatCode>
                <c:ptCount val="10"/>
                <c:pt idx="0">
                  <c:v>62.37</c:v>
                </c:pt>
                <c:pt idx="1">
                  <c:v>44.55</c:v>
                </c:pt>
                <c:pt idx="2">
                  <c:v>38.61</c:v>
                </c:pt>
                <c:pt idx="3">
                  <c:v>37.619999999999997</c:v>
                </c:pt>
                <c:pt idx="4">
                  <c:v>37.619999999999997</c:v>
                </c:pt>
                <c:pt idx="5">
                  <c:v>37.619999999999997</c:v>
                </c:pt>
                <c:pt idx="6">
                  <c:v>37.619999999999997</c:v>
                </c:pt>
                <c:pt idx="7">
                  <c:v>36.630000000000003</c:v>
                </c:pt>
                <c:pt idx="8">
                  <c:v>36.629999999999995</c:v>
                </c:pt>
                <c:pt idx="9">
                  <c:v>35.64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1-4895-AE01-393636AF0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593314208"/>
        <c:axId val="593304128"/>
      </c:barChart>
      <c:catAx>
        <c:axId val="59331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3304128"/>
        <c:crosses val="autoZero"/>
        <c:auto val="1"/>
        <c:lblAlgn val="ctr"/>
        <c:lblOffset val="100"/>
        <c:noMultiLvlLbl val="0"/>
      </c:catAx>
      <c:valAx>
        <c:axId val="593304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3314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Analysis.xlsx]1_2-Top Selling Artist!PivotTable10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Selling Artists - Total Sales and Track Count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'1_2-Top Selling Artist'!$I$2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'1_2-Top Selling Artist'!$H$3:$H$13</c:f>
              <c:strCache>
                <c:ptCount val="10"/>
                <c:pt idx="0">
                  <c:v>Van Halen</c:v>
                </c:pt>
                <c:pt idx="1">
                  <c:v>R.E.M.</c:v>
                </c:pt>
                <c:pt idx="2">
                  <c:v>The Rolling Stones</c:v>
                </c:pt>
                <c:pt idx="3">
                  <c:v>Nirvana</c:v>
                </c:pt>
                <c:pt idx="4">
                  <c:v>Eric Clapton</c:v>
                </c:pt>
                <c:pt idx="5">
                  <c:v>Foo Fighters</c:v>
                </c:pt>
                <c:pt idx="6">
                  <c:v>Green Day</c:v>
                </c:pt>
                <c:pt idx="7">
                  <c:v>Guns N' Roses</c:v>
                </c:pt>
                <c:pt idx="8">
                  <c:v>Pearl Jam</c:v>
                </c:pt>
                <c:pt idx="9">
                  <c:v>Amy Winehouse</c:v>
                </c:pt>
              </c:strCache>
            </c:strRef>
          </c:cat>
          <c:val>
            <c:numRef>
              <c:f>'1_2-Top Selling Artist'!$I$3:$I$13</c:f>
              <c:numCache>
                <c:formatCode>General</c:formatCode>
                <c:ptCount val="10"/>
                <c:pt idx="0">
                  <c:v>43</c:v>
                </c:pt>
                <c:pt idx="1">
                  <c:v>38</c:v>
                </c:pt>
                <c:pt idx="2">
                  <c:v>37</c:v>
                </c:pt>
                <c:pt idx="3">
                  <c:v>35</c:v>
                </c:pt>
                <c:pt idx="4">
                  <c:v>34</c:v>
                </c:pt>
                <c:pt idx="5">
                  <c:v>34</c:v>
                </c:pt>
                <c:pt idx="6">
                  <c:v>32</c:v>
                </c:pt>
                <c:pt idx="7">
                  <c:v>32</c:v>
                </c:pt>
                <c:pt idx="8">
                  <c:v>31</c:v>
                </c:pt>
                <c:pt idx="9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2-4725-B92A-47174DBBC0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36080608"/>
        <c:axId val="1936067648"/>
      </c:barChart>
      <c:catAx>
        <c:axId val="1936080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067648"/>
        <c:crosses val="autoZero"/>
        <c:auto val="1"/>
        <c:lblAlgn val="ctr"/>
        <c:lblOffset val="100"/>
        <c:noMultiLvlLbl val="0"/>
      </c:catAx>
      <c:valAx>
        <c:axId val="1936067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0806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Analysis.xlsx]1_2-Top Selling tracks!PivotTable3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Top 5 Genres in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'1_2-Top Selling tracks'!$P$3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'1_2-Top Selling tracks'!$O$4:$O$9</c:f>
              <c:strCache>
                <c:ptCount val="5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</c:strCache>
            </c:strRef>
          </c:cat>
          <c:val>
            <c:numRef>
              <c:f>'1_2-Top Selling tracks'!$P$4:$P$9</c:f>
              <c:numCache>
                <c:formatCode>General</c:formatCode>
                <c:ptCount val="5"/>
                <c:pt idx="0">
                  <c:v>413</c:v>
                </c:pt>
                <c:pt idx="1">
                  <c:v>95</c:v>
                </c:pt>
                <c:pt idx="2">
                  <c:v>87</c:v>
                </c:pt>
                <c:pt idx="3">
                  <c:v>36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15-49C5-93F4-43736CED3A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0821488"/>
        <c:axId val="20802768"/>
      </c:barChart>
      <c:catAx>
        <c:axId val="20821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02768"/>
        <c:crosses val="autoZero"/>
        <c:auto val="1"/>
        <c:lblAlgn val="ctr"/>
        <c:lblOffset val="100"/>
        <c:noMultiLvlLbl val="0"/>
      </c:catAx>
      <c:valAx>
        <c:axId val="2080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21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Analysis.xlsx]9-Percentage total sales USA!PivotTable4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Famous Genre in USA - RevenueWise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'9-Percentage total sales USA'!$H$1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'9-Percentage total sales USA'!$G$2:$G$7</c:f>
              <c:strCache>
                <c:ptCount val="5"/>
                <c:pt idx="0">
                  <c:v>Rock</c:v>
                </c:pt>
                <c:pt idx="1">
                  <c:v>Alternative &amp; Punk</c:v>
                </c:pt>
                <c:pt idx="2">
                  <c:v>Metal</c:v>
                </c:pt>
                <c:pt idx="3">
                  <c:v>R&amp;B/Soul</c:v>
                </c:pt>
                <c:pt idx="4">
                  <c:v>Blues</c:v>
                </c:pt>
              </c:strCache>
            </c:strRef>
          </c:cat>
          <c:val>
            <c:numRef>
              <c:f>'9-Percentage total sales USA'!$H$2:$H$7</c:f>
              <c:numCache>
                <c:formatCode>General</c:formatCode>
                <c:ptCount val="5"/>
                <c:pt idx="0">
                  <c:v>5568.7499999999982</c:v>
                </c:pt>
                <c:pt idx="1">
                  <c:v>1234.5300000000002</c:v>
                </c:pt>
                <c:pt idx="2">
                  <c:v>1025.6399999999999</c:v>
                </c:pt>
                <c:pt idx="3">
                  <c:v>633.59999999999991</c:v>
                </c:pt>
                <c:pt idx="4">
                  <c:v>453.42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59-4F66-872F-179B6E7E53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8956560"/>
        <c:axId val="1798956080"/>
      </c:barChart>
      <c:catAx>
        <c:axId val="179895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956080"/>
        <c:crosses val="autoZero"/>
        <c:auto val="1"/>
        <c:lblAlgn val="ctr"/>
        <c:lblOffset val="100"/>
        <c:noMultiLvlLbl val="0"/>
      </c:catAx>
      <c:valAx>
        <c:axId val="1798956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8956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Analysis.xlsx]5-Top 5 Customers countrywise!PivotTable6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5 Customers in top 5 countries - Revenuewise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'5-Top 5 Customers countrywise'!$I$2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'5-Top 5 Customers countrywise'!$H$3:$H$32</c:f>
              <c:multiLvlStrCache>
                <c:ptCount val="24"/>
                <c:lvl>
                  <c:pt idx="0">
                    <c:v>Jack Smith</c:v>
                  </c:pt>
                  <c:pt idx="1">
                    <c:v>Dan Miller</c:v>
                  </c:pt>
                  <c:pt idx="2">
                    <c:v>Heather Leacock</c:v>
                  </c:pt>
                  <c:pt idx="3">
                    <c:v>Kathy Chase</c:v>
                  </c:pt>
                  <c:pt idx="4">
                    <c:v>Richard Cunningham</c:v>
                  </c:pt>
                  <c:pt idx="5">
                    <c:v>Lu��s Gon��alves</c:v>
                  </c:pt>
                  <c:pt idx="6">
                    <c:v>Fernanda Ramos</c:v>
                  </c:pt>
                  <c:pt idx="7">
                    <c:v>Roberto Almeida</c:v>
                  </c:pt>
                  <c:pt idx="8">
                    <c:v>Alexandre Rocha</c:v>
                  </c:pt>
                  <c:pt idx="9">
                    <c:v>Eduardo Martins</c:v>
                  </c:pt>
                  <c:pt idx="10">
                    <c:v>Fran��ois Tremblay</c:v>
                  </c:pt>
                  <c:pt idx="11">
                    <c:v>Edward Francis</c:v>
                  </c:pt>
                  <c:pt idx="12">
                    <c:v>Ellie Sullivan</c:v>
                  </c:pt>
                  <c:pt idx="13">
                    <c:v>Aaron Mitchell</c:v>
                  </c:pt>
                  <c:pt idx="14">
                    <c:v>Jennifer Peterson</c:v>
                  </c:pt>
                  <c:pt idx="15">
                    <c:v>Wyatt Girard</c:v>
                  </c:pt>
                  <c:pt idx="16">
                    <c:v>Camille Bernard</c:v>
                  </c:pt>
                  <c:pt idx="17">
                    <c:v>Isabelle Mercier</c:v>
                  </c:pt>
                  <c:pt idx="18">
                    <c:v>Dominique Lefebvre</c:v>
                  </c:pt>
                  <c:pt idx="19">
                    <c:v>Marc Dubois</c:v>
                  </c:pt>
                  <c:pt idx="20">
                    <c:v>Fynn Zimmermann</c:v>
                  </c:pt>
                  <c:pt idx="21">
                    <c:v>Hannah Schneider</c:v>
                  </c:pt>
                  <c:pt idx="22">
                    <c:v>Leonie K��hler</c:v>
                  </c:pt>
                  <c:pt idx="23">
                    <c:v>Niklas Schr��der</c:v>
                  </c:pt>
                </c:lvl>
                <c:lvl>
                  <c:pt idx="0">
                    <c:v>USA</c:v>
                  </c:pt>
                  <c:pt idx="5">
                    <c:v>Brazil</c:v>
                  </c:pt>
                  <c:pt idx="10">
                    <c:v>Canada</c:v>
                  </c:pt>
                  <c:pt idx="15">
                    <c:v>France</c:v>
                  </c:pt>
                  <c:pt idx="20">
                    <c:v>Germany</c:v>
                  </c:pt>
                </c:lvl>
              </c:multiLvlStrCache>
            </c:multiLvlStrRef>
          </c:cat>
          <c:val>
            <c:numRef>
              <c:f>'5-Top 5 Customers countrywise'!$I$3:$I$32</c:f>
              <c:numCache>
                <c:formatCode>General</c:formatCode>
                <c:ptCount val="24"/>
                <c:pt idx="0">
                  <c:v>98.01</c:v>
                </c:pt>
                <c:pt idx="1">
                  <c:v>95.04</c:v>
                </c:pt>
                <c:pt idx="2">
                  <c:v>92.07</c:v>
                </c:pt>
                <c:pt idx="3">
                  <c:v>91.08</c:v>
                </c:pt>
                <c:pt idx="4">
                  <c:v>86.13</c:v>
                </c:pt>
                <c:pt idx="5">
                  <c:v>108.9</c:v>
                </c:pt>
                <c:pt idx="6">
                  <c:v>106.92</c:v>
                </c:pt>
                <c:pt idx="7">
                  <c:v>82.17</c:v>
                </c:pt>
                <c:pt idx="8">
                  <c:v>69.3</c:v>
                </c:pt>
                <c:pt idx="9">
                  <c:v>60.39</c:v>
                </c:pt>
                <c:pt idx="10">
                  <c:v>99.99</c:v>
                </c:pt>
                <c:pt idx="11">
                  <c:v>91.08</c:v>
                </c:pt>
                <c:pt idx="12">
                  <c:v>75.239999999999995</c:v>
                </c:pt>
                <c:pt idx="13">
                  <c:v>70.290000000000006</c:v>
                </c:pt>
                <c:pt idx="14">
                  <c:v>66.33</c:v>
                </c:pt>
                <c:pt idx="15">
                  <c:v>99.99</c:v>
                </c:pt>
                <c:pt idx="16">
                  <c:v>79.2</c:v>
                </c:pt>
                <c:pt idx="17">
                  <c:v>73.260000000000005</c:v>
                </c:pt>
                <c:pt idx="18">
                  <c:v>72.27</c:v>
                </c:pt>
                <c:pt idx="19">
                  <c:v>64.349999999999994</c:v>
                </c:pt>
                <c:pt idx="20">
                  <c:v>94.05</c:v>
                </c:pt>
                <c:pt idx="21">
                  <c:v>85.14</c:v>
                </c:pt>
                <c:pt idx="22">
                  <c:v>82.17</c:v>
                </c:pt>
                <c:pt idx="23">
                  <c:v>73.260000000000005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D3-4644-A5A6-4C7961FD3A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07430480"/>
        <c:axId val="707423280"/>
      </c:barChart>
      <c:catAx>
        <c:axId val="7074304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7423280"/>
        <c:crosses val="autoZero"/>
        <c:auto val="1"/>
        <c:lblAlgn val="ctr"/>
        <c:lblOffset val="100"/>
        <c:noMultiLvlLbl val="0"/>
      </c:catAx>
      <c:valAx>
        <c:axId val="707423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7430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Analysis.xlsx]6-Top Selling Track Each Cust!PivotTable8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Top selling tracks for Top 10 customers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'6-Top Selling Track Each Cust'!$I$1</c:f>
              <c:strCache>
                <c:ptCount val="1"/>
                <c:pt idx="0">
                  <c:v>Total 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'6-Top Selling Track Each Cust'!$H$2:$H$13</c:f>
              <c:strCache>
                <c:ptCount val="11"/>
                <c:pt idx="0">
                  <c:v>Wyatt Girard</c:v>
                </c:pt>
                <c:pt idx="1">
                  <c:v>Roberto Almeida</c:v>
                </c:pt>
                <c:pt idx="2">
                  <c:v>Fran��ois Tremblay</c:v>
                </c:pt>
                <c:pt idx="3">
                  <c:v>Julia Barnett</c:v>
                </c:pt>
                <c:pt idx="4">
                  <c:v>Jo��o Fernandes</c:v>
                </c:pt>
                <c:pt idx="5">
                  <c:v>Franti��ek Wichterlov��</c:v>
                </c:pt>
                <c:pt idx="6">
                  <c:v>Robert Brown</c:v>
                </c:pt>
                <c:pt idx="7">
                  <c:v>Fernanda Ramos</c:v>
                </c:pt>
                <c:pt idx="8">
                  <c:v>Aaron Mitchell</c:v>
                </c:pt>
                <c:pt idx="9">
                  <c:v>Hugh O'Reilly</c:v>
                </c:pt>
                <c:pt idx="10">
                  <c:v>Isabelle Mercier</c:v>
                </c:pt>
              </c:strCache>
            </c:strRef>
          </c:cat>
          <c:val>
            <c:numRef>
              <c:f>'6-Top Selling Track Each Cust'!$I$2:$I$13</c:f>
              <c:numCache>
                <c:formatCode>General</c:formatCode>
                <c:ptCount val="11"/>
                <c:pt idx="0">
                  <c:v>23.76</c:v>
                </c:pt>
                <c:pt idx="1">
                  <c:v>21.78</c:v>
                </c:pt>
                <c:pt idx="2">
                  <c:v>19.8</c:v>
                </c:pt>
                <c:pt idx="3">
                  <c:v>19.8</c:v>
                </c:pt>
                <c:pt idx="4">
                  <c:v>19.8</c:v>
                </c:pt>
                <c:pt idx="5">
                  <c:v>19.8</c:v>
                </c:pt>
                <c:pt idx="6">
                  <c:v>19.8</c:v>
                </c:pt>
                <c:pt idx="7">
                  <c:v>19.8</c:v>
                </c:pt>
                <c:pt idx="8">
                  <c:v>19.8</c:v>
                </c:pt>
                <c:pt idx="9">
                  <c:v>19.8</c:v>
                </c:pt>
                <c:pt idx="10">
                  <c:v>19.8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51-46A2-9095-A156E1821603}"/>
            </c:ext>
          </c:extLst>
        </c:ser>
        <c:ser>
          <c:idx val="1"/>
          <c:order val="1"/>
          <c:tx>
            <c:strRef>
              <c:f>'6-Top Selling Track Each Cust'!$J$1</c:f>
              <c:strCache>
                <c:ptCount val="1"/>
                <c:pt idx="0">
                  <c:v>Total Quantity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'6-Top Selling Track Each Cust'!$H$2:$H$13</c:f>
              <c:strCache>
                <c:ptCount val="11"/>
                <c:pt idx="0">
                  <c:v>Wyatt Girard</c:v>
                </c:pt>
                <c:pt idx="1">
                  <c:v>Roberto Almeida</c:v>
                </c:pt>
                <c:pt idx="2">
                  <c:v>Fran��ois Tremblay</c:v>
                </c:pt>
                <c:pt idx="3">
                  <c:v>Julia Barnett</c:v>
                </c:pt>
                <c:pt idx="4">
                  <c:v>Jo��o Fernandes</c:v>
                </c:pt>
                <c:pt idx="5">
                  <c:v>Franti��ek Wichterlov��</c:v>
                </c:pt>
                <c:pt idx="6">
                  <c:v>Robert Brown</c:v>
                </c:pt>
                <c:pt idx="7">
                  <c:v>Fernanda Ramos</c:v>
                </c:pt>
                <c:pt idx="8">
                  <c:v>Aaron Mitchell</c:v>
                </c:pt>
                <c:pt idx="9">
                  <c:v>Hugh O'Reilly</c:v>
                </c:pt>
                <c:pt idx="10">
                  <c:v>Isabelle Mercier</c:v>
                </c:pt>
              </c:strCache>
            </c:strRef>
          </c:cat>
          <c:val>
            <c:numRef>
              <c:f>'6-Top Selling Track Each Cust'!$J$2:$J$13</c:f>
              <c:numCache>
                <c:formatCode>General</c:formatCode>
                <c:ptCount val="11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51-46A2-9095-A156E18216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829168"/>
        <c:axId val="20810928"/>
      </c:barChart>
      <c:catAx>
        <c:axId val="2082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10928"/>
        <c:crosses val="autoZero"/>
        <c:auto val="1"/>
        <c:lblAlgn val="ctr"/>
        <c:lblOffset val="100"/>
        <c:noMultiLvlLbl val="0"/>
      </c:catAx>
      <c:valAx>
        <c:axId val="20810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82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Analysis.xlsx]7-Purchase Frequency!PivotTable10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Purchase Frequency of Customers - Top 10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'7-Purchase Frequency'!$I$2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'7-Purchase Frequency'!$H$3:$H$13</c:f>
              <c:strCache>
                <c:ptCount val="10"/>
                <c:pt idx="0">
                  <c:v>Franti��ek Wichterlov��</c:v>
                </c:pt>
                <c:pt idx="1">
                  <c:v>Fernanda Ramos</c:v>
                </c:pt>
                <c:pt idx="2">
                  <c:v>Madalena Sampaio</c:v>
                </c:pt>
                <c:pt idx="3">
                  <c:v>Luis Rojas</c:v>
                </c:pt>
                <c:pt idx="4">
                  <c:v>Manoj Pareek</c:v>
                </c:pt>
                <c:pt idx="5">
                  <c:v>Helena Hol��</c:v>
                </c:pt>
                <c:pt idx="6">
                  <c:v>Jack Smith</c:v>
                </c:pt>
                <c:pt idx="7">
                  <c:v>Lu��s Gon��alves</c:v>
                </c:pt>
                <c:pt idx="8">
                  <c:v>Isabelle Mercier</c:v>
                </c:pt>
                <c:pt idx="9">
                  <c:v>Alexandre Rocha</c:v>
                </c:pt>
              </c:strCache>
            </c:strRef>
          </c:cat>
          <c:val>
            <c:numRef>
              <c:f>'7-Purchase Frequency'!$I$3:$I$13</c:f>
              <c:numCache>
                <c:formatCode>General</c:formatCode>
                <c:ptCount val="10"/>
                <c:pt idx="0">
                  <c:v>74</c:v>
                </c:pt>
                <c:pt idx="1">
                  <c:v>92</c:v>
                </c:pt>
                <c:pt idx="2">
                  <c:v>95</c:v>
                </c:pt>
                <c:pt idx="3">
                  <c:v>98</c:v>
                </c:pt>
                <c:pt idx="4">
                  <c:v>103</c:v>
                </c:pt>
                <c:pt idx="5">
                  <c:v>104</c:v>
                </c:pt>
                <c:pt idx="6">
                  <c:v>104</c:v>
                </c:pt>
                <c:pt idx="7">
                  <c:v>106</c:v>
                </c:pt>
                <c:pt idx="8">
                  <c:v>107</c:v>
                </c:pt>
                <c:pt idx="9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CE-429D-8D80-31469459F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092113632"/>
        <c:axId val="2092098752"/>
      </c:barChart>
      <c:catAx>
        <c:axId val="209211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098752"/>
        <c:crosses val="autoZero"/>
        <c:auto val="1"/>
        <c:lblAlgn val="ctr"/>
        <c:lblOffset val="100"/>
        <c:noMultiLvlLbl val="0"/>
      </c:catAx>
      <c:valAx>
        <c:axId val="2092098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113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Analysis.xlsx]10-Customers purchased atleas!PivotTable5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Top 10 </a:t>
            </a:r>
            <a:r>
              <a:rPr lang="en-IN"/>
              <a:t>Tracks purchased and associated Genres - CustomerWise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'10-Customers purchased atleas'!$F$2</c:f>
              <c:strCache>
                <c:ptCount val="1"/>
                <c:pt idx="0">
                  <c:v>Number of tracks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'10-Customers purchased atleas'!$E$3:$E$15</c:f>
              <c:strCache>
                <c:ptCount val="12"/>
                <c:pt idx="0">
                  <c:v>Franti��ek Wichterlov��</c:v>
                </c:pt>
                <c:pt idx="1">
                  <c:v>Jack Smith</c:v>
                </c:pt>
                <c:pt idx="2">
                  <c:v>Wyatt Girard</c:v>
                </c:pt>
                <c:pt idx="3">
                  <c:v>Fernanda Ramos</c:v>
                </c:pt>
                <c:pt idx="4">
                  <c:v>Hugh O'Reilly</c:v>
                </c:pt>
                <c:pt idx="5">
                  <c:v>Enrique Mu��oz</c:v>
                </c:pt>
                <c:pt idx="6">
                  <c:v>Helena Hol��</c:v>
                </c:pt>
                <c:pt idx="7">
                  <c:v>Manoj Pareek</c:v>
                </c:pt>
                <c:pt idx="8">
                  <c:v>Jo��o Fernandes</c:v>
                </c:pt>
                <c:pt idx="9">
                  <c:v>Lu��s Gon��alves</c:v>
                </c:pt>
                <c:pt idx="10">
                  <c:v>Fran��ois Tremblay</c:v>
                </c:pt>
                <c:pt idx="11">
                  <c:v>Phil Hughes</c:v>
                </c:pt>
              </c:strCache>
            </c:strRef>
          </c:cat>
          <c:val>
            <c:numRef>
              <c:f>'10-Customers purchased atleas'!$F$3:$F$15</c:f>
              <c:numCache>
                <c:formatCode>General</c:formatCode>
                <c:ptCount val="12"/>
                <c:pt idx="0">
                  <c:v>146</c:v>
                </c:pt>
                <c:pt idx="1">
                  <c:v>99</c:v>
                </c:pt>
                <c:pt idx="2">
                  <c:v>101</c:v>
                </c:pt>
                <c:pt idx="3">
                  <c:v>108</c:v>
                </c:pt>
                <c:pt idx="4">
                  <c:v>116</c:v>
                </c:pt>
                <c:pt idx="5">
                  <c:v>99</c:v>
                </c:pt>
                <c:pt idx="6">
                  <c:v>130</c:v>
                </c:pt>
                <c:pt idx="7">
                  <c:v>113</c:v>
                </c:pt>
                <c:pt idx="8">
                  <c:v>104</c:v>
                </c:pt>
                <c:pt idx="9">
                  <c:v>110</c:v>
                </c:pt>
                <c:pt idx="10">
                  <c:v>101</c:v>
                </c:pt>
                <c:pt idx="11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A9-4018-922A-A5D78BA5E5CC}"/>
            </c:ext>
          </c:extLst>
        </c:ser>
        <c:ser>
          <c:idx val="1"/>
          <c:order val="1"/>
          <c:tx>
            <c:strRef>
              <c:f>'10-Customers purchased atleas'!$G$2</c:f>
              <c:strCache>
                <c:ptCount val="1"/>
                <c:pt idx="0">
                  <c:v>Genre Count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'10-Customers purchased atleas'!$E$3:$E$15</c:f>
              <c:strCache>
                <c:ptCount val="12"/>
                <c:pt idx="0">
                  <c:v>Franti��ek Wichterlov��</c:v>
                </c:pt>
                <c:pt idx="1">
                  <c:v>Jack Smith</c:v>
                </c:pt>
                <c:pt idx="2">
                  <c:v>Wyatt Girard</c:v>
                </c:pt>
                <c:pt idx="3">
                  <c:v>Fernanda Ramos</c:v>
                </c:pt>
                <c:pt idx="4">
                  <c:v>Hugh O'Reilly</c:v>
                </c:pt>
                <c:pt idx="5">
                  <c:v>Enrique Mu��oz</c:v>
                </c:pt>
                <c:pt idx="6">
                  <c:v>Helena Hol��</c:v>
                </c:pt>
                <c:pt idx="7">
                  <c:v>Manoj Pareek</c:v>
                </c:pt>
                <c:pt idx="8">
                  <c:v>Jo��o Fernandes</c:v>
                </c:pt>
                <c:pt idx="9">
                  <c:v>Lu��s Gon��alves</c:v>
                </c:pt>
                <c:pt idx="10">
                  <c:v>Fran��ois Tremblay</c:v>
                </c:pt>
                <c:pt idx="11">
                  <c:v>Phil Hughes</c:v>
                </c:pt>
              </c:strCache>
            </c:strRef>
          </c:cat>
          <c:val>
            <c:numRef>
              <c:f>'10-Customers purchased atleas'!$G$3:$G$15</c:f>
              <c:numCache>
                <c:formatCode>General</c:formatCode>
                <c:ptCount val="12"/>
                <c:pt idx="0">
                  <c:v>13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11</c:v>
                </c:pt>
                <c:pt idx="6">
                  <c:v>11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8</c:v>
                </c:pt>
                <c:pt idx="1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A9-4018-922A-A5D78BA5E5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52496864"/>
        <c:axId val="1652495904"/>
      </c:barChart>
      <c:catAx>
        <c:axId val="1652496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2495904"/>
        <c:crosses val="autoZero"/>
        <c:auto val="1"/>
        <c:lblAlgn val="ctr"/>
        <c:lblOffset val="100"/>
        <c:noMultiLvlLbl val="0"/>
      </c:catAx>
      <c:valAx>
        <c:axId val="1652495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2496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 Churn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7000"/>
                      <a:satMod val="100000"/>
                      <a:lumMod val="102000"/>
                    </a:schemeClr>
                  </a:gs>
                  <a:gs pos="50000">
                    <a:schemeClr val="accent1">
                      <a:shade val="100000"/>
                      <a:satMod val="100000"/>
                      <a:lumMod val="100000"/>
                    </a:schemeClr>
                  </a:gs>
                  <a:gs pos="100000">
                    <a:schemeClr val="accent1">
                      <a:shade val="80000"/>
                      <a:satMod val="100000"/>
                      <a:lumMod val="99000"/>
                    </a:schemeClr>
                  </a:gs>
                </a:gsLst>
                <a:lin ang="27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1EE-4A23-A747-888AF8A950FF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1EE-4A23-A747-888AF8A950FF}"/>
              </c:ext>
            </c:extLst>
          </c:dPt>
          <c:dLbls>
            <c:dLbl>
              <c:idx val="0"/>
              <c:layout>
                <c:manualLayout>
                  <c:x val="-0.12236417322834646"/>
                  <c:y val="0.11686497521143191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1EE-4A23-A747-888AF8A950FF}"/>
                </c:ext>
              </c:extLst>
            </c:dLbl>
            <c:dLbl>
              <c:idx val="1"/>
              <c:layout>
                <c:manualLayout>
                  <c:x val="0.10083475503062117"/>
                  <c:y val="-0.14454870224555263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EE-4A23-A747-888AF8A950F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'8-churn rate'!$A$1:$B$1</c:f>
              <c:strCache>
                <c:ptCount val="2"/>
                <c:pt idx="0">
                  <c:v>Churned_customers</c:v>
                </c:pt>
                <c:pt idx="1">
                  <c:v>Active_customers</c:v>
                </c:pt>
              </c:strCache>
            </c:strRef>
          </c:cat>
          <c:val>
            <c:numRef>
              <c:f>'8-churn rate'!$A$2:$B$2</c:f>
              <c:numCache>
                <c:formatCode>General</c:formatCode>
                <c:ptCount val="2"/>
                <c:pt idx="0">
                  <c:v>17</c:v>
                </c:pt>
                <c:pt idx="1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1EE-4A23-A747-888AF8A950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1-Recommended albums!PivotTable2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Recommended albums on the basis of Genre Sales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5382518651660209E-2"/>
          <c:y val="0.12701686917690813"/>
          <c:w val="0.93237880798555606"/>
          <c:h val="0.523447713141765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'sub 1-Recommended albums'!$G$2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'sub 1-Recommended albums'!$F$3:$F$23</c:f>
              <c:multiLvlStrCache>
                <c:ptCount val="10"/>
                <c:lvl>
                  <c:pt idx="0">
                    <c:v>R&amp;B/Soul</c:v>
                  </c:pt>
                  <c:pt idx="1">
                    <c:v>Rock</c:v>
                  </c:pt>
                  <c:pt idx="2">
                    <c:v>Rock</c:v>
                  </c:pt>
                  <c:pt idx="3">
                    <c:v>Hip Hop/Rap</c:v>
                  </c:pt>
                  <c:pt idx="4">
                    <c:v>Blues</c:v>
                  </c:pt>
                  <c:pt idx="5">
                    <c:v>Rock</c:v>
                  </c:pt>
                  <c:pt idx="6">
                    <c:v>Rock</c:v>
                  </c:pt>
                  <c:pt idx="7">
                    <c:v>Rock</c:v>
                  </c:pt>
                  <c:pt idx="8">
                    <c:v>Rock</c:v>
                  </c:pt>
                  <c:pt idx="9">
                    <c:v>Rock</c:v>
                  </c:pt>
                </c:lvl>
                <c:lvl>
                  <c:pt idx="0">
                    <c:v>Seek And Shall Find: More Of The Best (1963-1981)</c:v>
                  </c:pt>
                  <c:pt idx="1">
                    <c:v>From The Muddy Banks Of The Wishkah [live]</c:v>
                  </c:pt>
                  <c:pt idx="2">
                    <c:v>Are You Experienced?</c:v>
                  </c:pt>
                  <c:pt idx="3">
                    <c:v>House of Pain</c:v>
                  </c:pt>
                  <c:pt idx="4">
                    <c:v>The Cream Of Clapton</c:v>
                  </c:pt>
                  <c:pt idx="5">
                    <c:v>The Best Of Van Halen, Vol. I</c:v>
                  </c:pt>
                  <c:pt idx="6">
                    <c:v>Use Your Illusion I</c:v>
                  </c:pt>
                  <c:pt idx="7">
                    <c:v>Hot Rocks, 1964-1971 (Disc 1)</c:v>
                  </c:pt>
                  <c:pt idx="8">
                    <c:v>Live On Two Legs [live]</c:v>
                  </c:pt>
                  <c:pt idx="9">
                    <c:v>The Doors</c:v>
                  </c:pt>
                </c:lvl>
              </c:multiLvlStrCache>
            </c:multiLvlStrRef>
          </c:cat>
          <c:val>
            <c:numRef>
              <c:f>'sub 1-Recommended albums'!$G$3:$G$23</c:f>
              <c:numCache>
                <c:formatCode>General</c:formatCode>
                <c:ptCount val="10"/>
                <c:pt idx="0">
                  <c:v>387.09</c:v>
                </c:pt>
                <c:pt idx="1">
                  <c:v>379.17</c:v>
                </c:pt>
                <c:pt idx="2">
                  <c:v>370.26</c:v>
                </c:pt>
                <c:pt idx="3">
                  <c:v>366.3</c:v>
                </c:pt>
                <c:pt idx="4">
                  <c:v>358.38</c:v>
                </c:pt>
                <c:pt idx="5">
                  <c:v>313.83</c:v>
                </c:pt>
                <c:pt idx="6">
                  <c:v>307.89</c:v>
                </c:pt>
                <c:pt idx="7">
                  <c:v>293.04000000000002</c:v>
                </c:pt>
                <c:pt idx="8">
                  <c:v>281.16000000000003</c:v>
                </c:pt>
                <c:pt idx="9">
                  <c:v>251.46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CA-4E88-97B6-12EDF3EC27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64273792"/>
        <c:axId val="1664274752"/>
      </c:barChart>
      <c:catAx>
        <c:axId val="16642737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274752"/>
        <c:crosses val="autoZero"/>
        <c:auto val="1"/>
        <c:lblAlgn val="ctr"/>
        <c:lblOffset val="100"/>
        <c:noMultiLvlLbl val="0"/>
      </c:catAx>
      <c:valAx>
        <c:axId val="1664274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4273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Analysis.xlsx]Sub2-Top Selling other than USA!PivotTable3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Famous Genres in countries other than USA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'Sub2-Top Selling other than USA'!$H$1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'Sub2-Top Selling other than USA'!$G$2:$G$7</c:f>
              <c:strCache>
                <c:ptCount val="5"/>
                <c:pt idx="0">
                  <c:v>Rock</c:v>
                </c:pt>
                <c:pt idx="1">
                  <c:v>Metal</c:v>
                </c:pt>
                <c:pt idx="2">
                  <c:v>Alternative &amp; Punk</c:v>
                </c:pt>
                <c:pt idx="3">
                  <c:v>Latin</c:v>
                </c:pt>
                <c:pt idx="4">
                  <c:v>Jazz</c:v>
                </c:pt>
              </c:strCache>
            </c:strRef>
          </c:cat>
          <c:val>
            <c:numRef>
              <c:f>'Sub2-Top Selling other than USA'!$H$2:$H$7</c:f>
              <c:numCache>
                <c:formatCode>General</c:formatCode>
                <c:ptCount val="5"/>
                <c:pt idx="0">
                  <c:v>21183.029999999995</c:v>
                </c:pt>
                <c:pt idx="1">
                  <c:v>4290.66</c:v>
                </c:pt>
                <c:pt idx="2">
                  <c:v>3606.57</c:v>
                </c:pt>
                <c:pt idx="3">
                  <c:v>1543.4099999999999</c:v>
                </c:pt>
                <c:pt idx="4">
                  <c:v>1177.1099999999999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1D-4C90-BBDB-C5B9A5C519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662416960"/>
        <c:axId val="1662414560"/>
      </c:barChart>
      <c:catAx>
        <c:axId val="1662416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2414560"/>
        <c:crosses val="autoZero"/>
        <c:auto val="1"/>
        <c:lblAlgn val="ctr"/>
        <c:lblOffset val="100"/>
        <c:noMultiLvlLbl val="0"/>
      </c:catAx>
      <c:valAx>
        <c:axId val="166241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2416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4-Product Affinity Analysis!PivotTable7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 purchases in Genre in terms of quantity - Top 3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 4-Product Affinity Analysis'!$J$1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'Sub 4-Product Affinity Analysis'!$I$2:$I$39</c:f>
              <c:multiLvlStrCache>
                <c:ptCount val="34"/>
                <c:lvl>
                  <c:pt idx="0">
                    <c:v>Rock</c:v>
                  </c:pt>
                  <c:pt idx="1">
                    <c:v>Metal</c:v>
                  </c:pt>
                  <c:pt idx="2">
                    <c:v>Alternative &amp; Punk</c:v>
                  </c:pt>
                  <c:pt idx="3">
                    <c:v>Alternative</c:v>
                  </c:pt>
                  <c:pt idx="4">
                    <c:v>R&amp;B/Soul</c:v>
                  </c:pt>
                  <c:pt idx="5">
                    <c:v>Blues</c:v>
                  </c:pt>
                  <c:pt idx="6">
                    <c:v>Pop</c:v>
                  </c:pt>
                  <c:pt idx="7">
                    <c:v>Reggae</c:v>
                  </c:pt>
                  <c:pt idx="8">
                    <c:v>Soundtrack</c:v>
                  </c:pt>
                  <c:pt idx="9">
                    <c:v>Latin</c:v>
                  </c:pt>
                  <c:pt idx="10">
                    <c:v>Rock</c:v>
                  </c:pt>
                  <c:pt idx="11">
                    <c:v>Blues</c:v>
                  </c:pt>
                  <c:pt idx="12">
                    <c:v>Alternative &amp; Punk</c:v>
                  </c:pt>
                  <c:pt idx="13">
                    <c:v>Latin</c:v>
                  </c:pt>
                  <c:pt idx="14">
                    <c:v>Metal</c:v>
                  </c:pt>
                  <c:pt idx="15">
                    <c:v>Alternative</c:v>
                  </c:pt>
                  <c:pt idx="16">
                    <c:v>R&amp;B/Soul</c:v>
                  </c:pt>
                  <c:pt idx="17">
                    <c:v>Easy Listening</c:v>
                  </c:pt>
                  <c:pt idx="18">
                    <c:v>Pop</c:v>
                  </c:pt>
                  <c:pt idx="19">
                    <c:v>Classical</c:v>
                  </c:pt>
                  <c:pt idx="20">
                    <c:v>Reggae</c:v>
                  </c:pt>
                  <c:pt idx="21">
                    <c:v>Hip Hop/Rap</c:v>
                  </c:pt>
                  <c:pt idx="22">
                    <c:v>Jazz</c:v>
                  </c:pt>
                  <c:pt idx="23">
                    <c:v>Rock</c:v>
                  </c:pt>
                  <c:pt idx="24">
                    <c:v>Alternative &amp; Punk</c:v>
                  </c:pt>
                  <c:pt idx="25">
                    <c:v>Metal</c:v>
                  </c:pt>
                  <c:pt idx="26">
                    <c:v>Alternative</c:v>
                  </c:pt>
                  <c:pt idx="27">
                    <c:v>Latin</c:v>
                  </c:pt>
                  <c:pt idx="28">
                    <c:v>R&amp;B/Soul</c:v>
                  </c:pt>
                  <c:pt idx="29">
                    <c:v>Classical</c:v>
                  </c:pt>
                  <c:pt idx="30">
                    <c:v>Jazz</c:v>
                  </c:pt>
                  <c:pt idx="31">
                    <c:v>Pop</c:v>
                  </c:pt>
                  <c:pt idx="32">
                    <c:v>Easy Listening</c:v>
                  </c:pt>
                  <c:pt idx="33">
                    <c:v>Electronica/Dance</c:v>
                  </c:pt>
                </c:lvl>
                <c:lvl>
                  <c:pt idx="0">
                    <c:v>Frank</c:v>
                  </c:pt>
                  <c:pt idx="10">
                    <c:v>Franti��ek</c:v>
                  </c:pt>
                  <c:pt idx="23">
                    <c:v>Helena</c:v>
                  </c:pt>
                </c:lvl>
              </c:multiLvlStrCache>
            </c:multiLvlStrRef>
          </c:cat>
          <c:val>
            <c:numRef>
              <c:f>'Sub 4-Product Affinity Analysis'!$J$2:$J$39</c:f>
              <c:numCache>
                <c:formatCode>General</c:formatCode>
                <c:ptCount val="34"/>
                <c:pt idx="0">
                  <c:v>64</c:v>
                </c:pt>
                <c:pt idx="1">
                  <c:v>32</c:v>
                </c:pt>
                <c:pt idx="2">
                  <c:v>20</c:v>
                </c:pt>
                <c:pt idx="3">
                  <c:v>18</c:v>
                </c:pt>
                <c:pt idx="4">
                  <c:v>5</c:v>
                </c:pt>
                <c:pt idx="5">
                  <c:v>3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67</c:v>
                </c:pt>
                <c:pt idx="11">
                  <c:v>18</c:v>
                </c:pt>
                <c:pt idx="12">
                  <c:v>18</c:v>
                </c:pt>
                <c:pt idx="13">
                  <c:v>16</c:v>
                </c:pt>
                <c:pt idx="14">
                  <c:v>14</c:v>
                </c:pt>
                <c:pt idx="15">
                  <c:v>4</c:v>
                </c:pt>
                <c:pt idx="16">
                  <c:v>2</c:v>
                </c:pt>
                <c:pt idx="17">
                  <c:v>2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76</c:v>
                </c:pt>
                <c:pt idx="24">
                  <c:v>24</c:v>
                </c:pt>
                <c:pt idx="25">
                  <c:v>9</c:v>
                </c:pt>
                <c:pt idx="26">
                  <c:v>6</c:v>
                </c:pt>
                <c:pt idx="27">
                  <c:v>5</c:v>
                </c:pt>
                <c:pt idx="28">
                  <c:v>3</c:v>
                </c:pt>
                <c:pt idx="29">
                  <c:v>2</c:v>
                </c:pt>
                <c:pt idx="30">
                  <c:v>2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CA-4364-8AD2-0AB93DFBA5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792918016"/>
        <c:axId val="1792903616"/>
      </c:barChart>
      <c:catAx>
        <c:axId val="17929180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903616"/>
        <c:crosses val="autoZero"/>
        <c:auto val="1"/>
        <c:lblAlgn val="ctr"/>
        <c:lblOffset val="100"/>
        <c:noMultiLvlLbl val="0"/>
      </c:catAx>
      <c:valAx>
        <c:axId val="179290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918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5-Regional Market Analysis!PivotTable8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Churned Customer Count across countries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layout>
            <c:manualLayout>
              <c:x val="0"/>
              <c:y val="-0.15740740740740741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layout>
            <c:manualLayout>
              <c:x val="-1.8355359765051395E-3"/>
              <c:y val="-7.4074074074074153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'Sub 5-Regional Market Analysis'!$H$1</c:f>
              <c:strCache>
                <c:ptCount val="1"/>
                <c:pt idx="0">
                  <c:v>Sum of total_customers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5-Regional Market Analysis'!$G$2:$G$26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'Sub 5-Regional Market Analysis'!$H$2:$H$26</c:f>
              <c:numCache>
                <c:formatCode>General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5</c:v>
                </c:pt>
                <c:pt idx="5">
                  <c:v>8</c:v>
                </c:pt>
                <c:pt idx="6">
                  <c:v>1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5</c:v>
                </c:pt>
                <c:pt idx="11">
                  <c:v>4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2</c:v>
                </c:pt>
                <c:pt idx="20">
                  <c:v>1</c:v>
                </c:pt>
                <c:pt idx="21">
                  <c:v>1</c:v>
                </c:pt>
                <c:pt idx="22">
                  <c:v>3</c:v>
                </c:pt>
                <c:pt idx="2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1F-497F-84FB-49CC8FB60E7F}"/>
            </c:ext>
          </c:extLst>
        </c:ser>
        <c:ser>
          <c:idx val="1"/>
          <c:order val="1"/>
          <c:tx>
            <c:strRef>
              <c:f>'Sub 5-Regional Market Analysis'!$I$1</c:f>
              <c:strCache>
                <c:ptCount val="1"/>
                <c:pt idx="0">
                  <c:v>Sum of churned_customers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5-Regional Market Analysis'!$G$2:$G$26</c:f>
              <c:strCache>
                <c:ptCount val="24"/>
                <c:pt idx="0">
                  <c:v>Argentina</c:v>
                </c:pt>
                <c:pt idx="1">
                  <c:v>Australia</c:v>
                </c:pt>
                <c:pt idx="2">
                  <c:v>Austria</c:v>
                </c:pt>
                <c:pt idx="3">
                  <c:v>Belgium</c:v>
                </c:pt>
                <c:pt idx="4">
                  <c:v>Brazil</c:v>
                </c:pt>
                <c:pt idx="5">
                  <c:v>Canada</c:v>
                </c:pt>
                <c:pt idx="6">
                  <c:v>Chile</c:v>
                </c:pt>
                <c:pt idx="7">
                  <c:v>Czech Republic</c:v>
                </c:pt>
                <c:pt idx="8">
                  <c:v>Denmark</c:v>
                </c:pt>
                <c:pt idx="9">
                  <c:v>Finland</c:v>
                </c:pt>
                <c:pt idx="10">
                  <c:v>France</c:v>
                </c:pt>
                <c:pt idx="11">
                  <c:v>Germany</c:v>
                </c:pt>
                <c:pt idx="12">
                  <c:v>Hungary</c:v>
                </c:pt>
                <c:pt idx="13">
                  <c:v>India</c:v>
                </c:pt>
                <c:pt idx="14">
                  <c:v>Ireland</c:v>
                </c:pt>
                <c:pt idx="15">
                  <c:v>Italy</c:v>
                </c:pt>
                <c:pt idx="16">
                  <c:v>Netherlands</c:v>
                </c:pt>
                <c:pt idx="17">
                  <c:v>Norway</c:v>
                </c:pt>
                <c:pt idx="18">
                  <c:v>Poland</c:v>
                </c:pt>
                <c:pt idx="19">
                  <c:v>Portugal</c:v>
                </c:pt>
                <c:pt idx="20">
                  <c:v>Spain</c:v>
                </c:pt>
                <c:pt idx="21">
                  <c:v>Sweden</c:v>
                </c:pt>
                <c:pt idx="22">
                  <c:v>United Kingdom</c:v>
                </c:pt>
                <c:pt idx="23">
                  <c:v>USA</c:v>
                </c:pt>
              </c:strCache>
            </c:strRef>
          </c:cat>
          <c:val>
            <c:numRef>
              <c:f>'Sub 5-Regional Market Analysis'!$I$2:$I$26</c:f>
              <c:numCache>
                <c:formatCode>General</c:formatCode>
                <c:ptCount val="2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0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81F-497F-84FB-49CC8FB60E7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519476496"/>
        <c:axId val="1433135568"/>
      </c:barChart>
      <c:catAx>
        <c:axId val="151947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135568"/>
        <c:crosses val="autoZero"/>
        <c:auto val="1"/>
        <c:lblAlgn val="ctr"/>
        <c:lblOffset val="100"/>
        <c:noMultiLvlLbl val="0"/>
      </c:catAx>
      <c:valAx>
        <c:axId val="143313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47649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Analysis.xlsx]Sub5-Regional Market Analysis 2!PivotTable12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 purchasing behavior across countries - Average purchase value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'Sub5-Regional Market Analysis 2'!$L$2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'Sub5-Regional Market Analysis 2'!$K$3:$K$27</c:f>
              <c:strCache>
                <c:ptCount val="24"/>
                <c:pt idx="0">
                  <c:v>Czech Republic</c:v>
                </c:pt>
                <c:pt idx="1">
                  <c:v>Ireland</c:v>
                </c:pt>
                <c:pt idx="2">
                  <c:v>Spain</c:v>
                </c:pt>
                <c:pt idx="3">
                  <c:v>Chile</c:v>
                </c:pt>
                <c:pt idx="4">
                  <c:v>Portugal</c:v>
                </c:pt>
                <c:pt idx="5">
                  <c:v>India</c:v>
                </c:pt>
                <c:pt idx="6">
                  <c:v>Brazil</c:v>
                </c:pt>
                <c:pt idx="7">
                  <c:v>Germany</c:v>
                </c:pt>
                <c:pt idx="8">
                  <c:v>United Kingdom</c:v>
                </c:pt>
                <c:pt idx="9">
                  <c:v>Australia</c:v>
                </c:pt>
                <c:pt idx="10">
                  <c:v>USA</c:v>
                </c:pt>
                <c:pt idx="11">
                  <c:v>Finland</c:v>
                </c:pt>
                <c:pt idx="12">
                  <c:v>Hungary</c:v>
                </c:pt>
                <c:pt idx="13">
                  <c:v>France</c:v>
                </c:pt>
                <c:pt idx="14">
                  <c:v>Poland</c:v>
                </c:pt>
                <c:pt idx="15">
                  <c:v>Sweden</c:v>
                </c:pt>
                <c:pt idx="16">
                  <c:v>Norway</c:v>
                </c:pt>
                <c:pt idx="17">
                  <c:v>Austria</c:v>
                </c:pt>
                <c:pt idx="18">
                  <c:v>Canada</c:v>
                </c:pt>
                <c:pt idx="19">
                  <c:v>Netherlands</c:v>
                </c:pt>
                <c:pt idx="20">
                  <c:v>Belgium</c:v>
                </c:pt>
                <c:pt idx="21">
                  <c:v>Italy</c:v>
                </c:pt>
                <c:pt idx="22">
                  <c:v>Argentina</c:v>
                </c:pt>
                <c:pt idx="23">
                  <c:v>Denmark</c:v>
                </c:pt>
              </c:strCache>
            </c:strRef>
          </c:cat>
          <c:val>
            <c:numRef>
              <c:f>'Sub5-Regional Market Analysis 2'!$L$3:$L$27</c:f>
              <c:numCache>
                <c:formatCode>0</c:formatCode>
                <c:ptCount val="24"/>
                <c:pt idx="0">
                  <c:v>136.62</c:v>
                </c:pt>
                <c:pt idx="1">
                  <c:v>114.84</c:v>
                </c:pt>
                <c:pt idx="2">
                  <c:v>98.01</c:v>
                </c:pt>
                <c:pt idx="3">
                  <c:v>97.02</c:v>
                </c:pt>
                <c:pt idx="4">
                  <c:v>92.57</c:v>
                </c:pt>
                <c:pt idx="5">
                  <c:v>91.58</c:v>
                </c:pt>
                <c:pt idx="6">
                  <c:v>85.54</c:v>
                </c:pt>
                <c:pt idx="7">
                  <c:v>83.66</c:v>
                </c:pt>
                <c:pt idx="8">
                  <c:v>81.84</c:v>
                </c:pt>
                <c:pt idx="9">
                  <c:v>81.180000000000007</c:v>
                </c:pt>
                <c:pt idx="10">
                  <c:v>80.040000000000006</c:v>
                </c:pt>
                <c:pt idx="11">
                  <c:v>79.2</c:v>
                </c:pt>
                <c:pt idx="12">
                  <c:v>78.209999999999994</c:v>
                </c:pt>
                <c:pt idx="13">
                  <c:v>77.81</c:v>
                </c:pt>
                <c:pt idx="14">
                  <c:v>76.23</c:v>
                </c:pt>
                <c:pt idx="15">
                  <c:v>75.239999999999995</c:v>
                </c:pt>
                <c:pt idx="16">
                  <c:v>72.27</c:v>
                </c:pt>
                <c:pt idx="17">
                  <c:v>69.3</c:v>
                </c:pt>
                <c:pt idx="18">
                  <c:v>66.95</c:v>
                </c:pt>
                <c:pt idx="19">
                  <c:v>65.34</c:v>
                </c:pt>
                <c:pt idx="20">
                  <c:v>60.39</c:v>
                </c:pt>
                <c:pt idx="21">
                  <c:v>50.49</c:v>
                </c:pt>
                <c:pt idx="22">
                  <c:v>39.6</c:v>
                </c:pt>
                <c:pt idx="23">
                  <c:v>37.619999999999997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CE-4146-BE81-DAFDA7392B3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36027808"/>
        <c:axId val="1936038368"/>
      </c:barChart>
      <c:catAx>
        <c:axId val="1936027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038368"/>
        <c:crosses val="autoZero"/>
        <c:auto val="1"/>
        <c:lblAlgn val="ctr"/>
        <c:lblOffset val="100"/>
        <c:noMultiLvlLbl val="0"/>
      </c:catAx>
      <c:valAx>
        <c:axId val="193603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027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6 Risk Profiling!PivotTable8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Churn Rate (%) across countries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eparator>. 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 6 Risk Profiling'!$G$2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.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6 Risk Profiling'!$F$3:$F$27</c:f>
              <c:strCache>
                <c:ptCount val="24"/>
                <c:pt idx="0">
                  <c:v>Finland</c:v>
                </c:pt>
                <c:pt idx="1">
                  <c:v>Australia</c:v>
                </c:pt>
                <c:pt idx="2">
                  <c:v>Sweden</c:v>
                </c:pt>
                <c:pt idx="3">
                  <c:v>India</c:v>
                </c:pt>
                <c:pt idx="4">
                  <c:v>Brazil</c:v>
                </c:pt>
                <c:pt idx="5">
                  <c:v>Ireland</c:v>
                </c:pt>
                <c:pt idx="6">
                  <c:v>United Kingdom</c:v>
                </c:pt>
                <c:pt idx="7">
                  <c:v>Poland</c:v>
                </c:pt>
                <c:pt idx="8">
                  <c:v>Denmark</c:v>
                </c:pt>
                <c:pt idx="9">
                  <c:v>Portugal</c:v>
                </c:pt>
                <c:pt idx="10">
                  <c:v>Austria</c:v>
                </c:pt>
                <c:pt idx="11">
                  <c:v>Spain</c:v>
                </c:pt>
                <c:pt idx="12">
                  <c:v>USA</c:v>
                </c:pt>
                <c:pt idx="13">
                  <c:v>Canada</c:v>
                </c:pt>
                <c:pt idx="14">
                  <c:v>France</c:v>
                </c:pt>
                <c:pt idx="15">
                  <c:v>Germany</c:v>
                </c:pt>
                <c:pt idx="16">
                  <c:v>Czech Republic</c:v>
                </c:pt>
                <c:pt idx="17">
                  <c:v>Argentina</c:v>
                </c:pt>
                <c:pt idx="18">
                  <c:v>Hungary</c:v>
                </c:pt>
                <c:pt idx="19">
                  <c:v>Belgium</c:v>
                </c:pt>
                <c:pt idx="20">
                  <c:v>Netherlands</c:v>
                </c:pt>
                <c:pt idx="21">
                  <c:v>Chile</c:v>
                </c:pt>
                <c:pt idx="22">
                  <c:v>Norway</c:v>
                </c:pt>
                <c:pt idx="23">
                  <c:v>Italy</c:v>
                </c:pt>
              </c:strCache>
            </c:strRef>
          </c:cat>
          <c:val>
            <c:numRef>
              <c:f>'Sub 6 Risk Profiling'!$G$3:$G$27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15.38</c:v>
                </c:pt>
                <c:pt idx="13">
                  <c:v>37.5</c:v>
                </c:pt>
                <c:pt idx="14">
                  <c:v>40</c:v>
                </c:pt>
                <c:pt idx="15">
                  <c:v>50</c:v>
                </c:pt>
                <c:pt idx="16">
                  <c:v>50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6-4676-B7AF-B203C5C580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19476496"/>
        <c:axId val="1433135568"/>
      </c:barChart>
      <c:catAx>
        <c:axId val="151947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3135568"/>
        <c:crosses val="autoZero"/>
        <c:auto val="1"/>
        <c:lblAlgn val="ctr"/>
        <c:lblOffset val="100"/>
        <c:noMultiLvlLbl val="0"/>
      </c:catAx>
      <c:valAx>
        <c:axId val="1433135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47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7 - CLV Customer Tenure!PivotTable14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Customers - Days since last purchase - CLV Modeling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4.708995219072102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30494E-3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2373051754059799E-3"/>
              <c:y val="-3.76719617525768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2.82539713144325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29305E-3"/>
              <c:y val="-4.23809569716488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4.708995219072097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35449760953604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5.9349909267224403E-17"/>
              <c:y val="-3.76719617525768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8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2.9674954633612201E-17"/>
              <c:y val="-4.708995219072097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92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92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29305E-3"/>
              <c:y val="-4.70899521907209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29305E-3"/>
              <c:y val="-4.70899521907209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92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92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2.9674954633612201E-17"/>
              <c:y val="-4.708995219072097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8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5.9349909267224403E-17"/>
              <c:y val="-3.76719617525768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35449760953604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4.708995219072097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29305E-3"/>
              <c:y val="-4.23809569716488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2.82539713144325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2373051754059799E-3"/>
              <c:y val="-3.76719617525768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30494E-3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4.708995219072102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29305E-3"/>
              <c:y val="-4.708995219072099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92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92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2.9674954633612201E-17"/>
              <c:y val="-4.708995219072097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4.23809569716488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5.9349909267224403E-17"/>
              <c:y val="-3.76719617525768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354497609536048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4.708995219072097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29305E-3"/>
              <c:y val="-4.238095697164888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2.82539713144325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3.2373051754059799E-3"/>
              <c:y val="-3.7671961752576831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186525877030494E-3"/>
              <c:y val="-3.767196175257678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1869981853444881E-16"/>
              <c:y val="-4.708995219072102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'Sub 7 - CLV Customer Tenure'!$J$2</c:f>
              <c:strCache>
                <c:ptCount val="1"/>
                <c:pt idx="0">
                  <c:v>Sum of days_since_last_purchase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7 - CLV Customer Tenure'!$I$3:$I$18</c:f>
              <c:strCache>
                <c:ptCount val="15"/>
                <c:pt idx="0">
                  <c:v>Daan Peeters</c:v>
                </c:pt>
                <c:pt idx="1">
                  <c:v>Kara Nielsen</c:v>
                </c:pt>
                <c:pt idx="2">
                  <c:v>Bj��rn Hansen</c:v>
                </c:pt>
                <c:pt idx="3">
                  <c:v>Michelle Brooks</c:v>
                </c:pt>
                <c:pt idx="4">
                  <c:v>Steve Murray</c:v>
                </c:pt>
                <c:pt idx="5">
                  <c:v>Hannah Schneider</c:v>
                </c:pt>
                <c:pt idx="6">
                  <c:v>Camille Bernard</c:v>
                </c:pt>
                <c:pt idx="7">
                  <c:v>Tim Goyer</c:v>
                </c:pt>
                <c:pt idx="8">
                  <c:v>Niklas Schr��der</c:v>
                </c:pt>
                <c:pt idx="9">
                  <c:v>Johannes Van der Berg</c:v>
                </c:pt>
                <c:pt idx="10">
                  <c:v>Isabelle Mercier</c:v>
                </c:pt>
                <c:pt idx="11">
                  <c:v>Fran��ois Tremblay</c:v>
                </c:pt>
                <c:pt idx="12">
                  <c:v>Luis Rojas</c:v>
                </c:pt>
                <c:pt idx="13">
                  <c:v>Enrique Mu��oz</c:v>
                </c:pt>
                <c:pt idx="14">
                  <c:v>Alexandre Rocha</c:v>
                </c:pt>
              </c:strCache>
            </c:strRef>
          </c:cat>
          <c:val>
            <c:numRef>
              <c:f>'Sub 7 - CLV Customer Tenure'!$J$3:$J$18</c:f>
              <c:numCache>
                <c:formatCode>General</c:formatCode>
                <c:ptCount val="15"/>
                <c:pt idx="0">
                  <c:v>1865</c:v>
                </c:pt>
                <c:pt idx="1">
                  <c:v>1735</c:v>
                </c:pt>
                <c:pt idx="2">
                  <c:v>1729</c:v>
                </c:pt>
                <c:pt idx="3">
                  <c:v>1699</c:v>
                </c:pt>
                <c:pt idx="4">
                  <c:v>1679</c:v>
                </c:pt>
                <c:pt idx="5">
                  <c:v>1666</c:v>
                </c:pt>
                <c:pt idx="6">
                  <c:v>1662</c:v>
                </c:pt>
                <c:pt idx="7">
                  <c:v>1659</c:v>
                </c:pt>
                <c:pt idx="8">
                  <c:v>1651</c:v>
                </c:pt>
                <c:pt idx="9">
                  <c:v>1646</c:v>
                </c:pt>
                <c:pt idx="10">
                  <c:v>1641</c:v>
                </c:pt>
                <c:pt idx="11">
                  <c:v>1627</c:v>
                </c:pt>
                <c:pt idx="12">
                  <c:v>1603</c:v>
                </c:pt>
                <c:pt idx="13">
                  <c:v>1602</c:v>
                </c:pt>
                <c:pt idx="14">
                  <c:v>1588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6B-4CC7-8A55-94E0F7C01B52}"/>
            </c:ext>
          </c:extLst>
        </c:ser>
        <c:ser>
          <c:idx val="1"/>
          <c:order val="1"/>
          <c:tx>
            <c:strRef>
              <c:f>'Sub 7 - CLV Customer Tenure'!$K$2</c:f>
              <c:strCache>
                <c:ptCount val="1"/>
                <c:pt idx="0">
                  <c:v>Sum of purchase_frequency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C6B-4CC7-8A55-94E0F7C01B5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C6B-4CC7-8A55-94E0F7C01B5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C6B-4CC7-8A55-94E0F7C01B52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FC6B-4CC7-8A55-94E0F7C01B52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C6B-4CC7-8A55-94E0F7C01B52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FC6B-4CC7-8A55-94E0F7C01B52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C6B-4CC7-8A55-94E0F7C01B52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FC6B-4CC7-8A55-94E0F7C01B52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C6B-4CC7-8A55-94E0F7C01B52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FC6B-4CC7-8A55-94E0F7C01B52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C6B-4CC7-8A55-94E0F7C01B52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FC6B-4CC7-8A55-94E0F7C01B52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FC6B-4CC7-8A55-94E0F7C01B52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FC6B-4CC7-8A55-94E0F7C01B52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FC6B-4CC7-8A55-94E0F7C01B52}"/>
              </c:ext>
            </c:extLst>
          </c:dPt>
          <c:dLbls>
            <c:dLbl>
              <c:idx val="0"/>
              <c:layout>
                <c:manualLayout>
                  <c:x val="-1.6186525877029305E-3"/>
                  <c:y val="-4.70899521907209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6B-4CC7-8A55-94E0F7C01B52}"/>
                </c:ext>
              </c:extLst>
            </c:dLbl>
            <c:dLbl>
              <c:idx val="1"/>
              <c:layout>
                <c:manualLayout>
                  <c:x val="0"/>
                  <c:y val="-4.23809569716489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C6B-4CC7-8A55-94E0F7C01B52}"/>
                </c:ext>
              </c:extLst>
            </c:dLbl>
            <c:dLbl>
              <c:idx val="2"/>
              <c:layout>
                <c:manualLayout>
                  <c:x val="0"/>
                  <c:y val="-4.23809569716489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6B-4CC7-8A55-94E0F7C01B52}"/>
                </c:ext>
              </c:extLst>
            </c:dLbl>
            <c:dLbl>
              <c:idx val="3"/>
              <c:layout>
                <c:manualLayout>
                  <c:x val="-2.9674954633612201E-17"/>
                  <c:y val="-4.70899521907209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C6B-4CC7-8A55-94E0F7C01B52}"/>
                </c:ext>
              </c:extLst>
            </c:dLbl>
            <c:dLbl>
              <c:idx val="4"/>
              <c:layout>
                <c:manualLayout>
                  <c:x val="0"/>
                  <c:y val="-3.76719617525767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6B-4CC7-8A55-94E0F7C01B52}"/>
                </c:ext>
              </c:extLst>
            </c:dLbl>
            <c:dLbl>
              <c:idx val="5"/>
              <c:layout>
                <c:manualLayout>
                  <c:x val="0"/>
                  <c:y val="-3.76719617525767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C6B-4CC7-8A55-94E0F7C01B52}"/>
                </c:ext>
              </c:extLst>
            </c:dLbl>
            <c:dLbl>
              <c:idx val="6"/>
              <c:layout>
                <c:manualLayout>
                  <c:x val="0"/>
                  <c:y val="-4.238095697164888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6B-4CC7-8A55-94E0F7C01B52}"/>
                </c:ext>
              </c:extLst>
            </c:dLbl>
            <c:dLbl>
              <c:idx val="7"/>
              <c:layout>
                <c:manualLayout>
                  <c:x val="-5.9349909267224403E-17"/>
                  <c:y val="-3.767196175257683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C6B-4CC7-8A55-94E0F7C01B52}"/>
                </c:ext>
              </c:extLst>
            </c:dLbl>
            <c:dLbl>
              <c:idx val="8"/>
              <c:layout>
                <c:manualLayout>
                  <c:x val="0"/>
                  <c:y val="-2.354497609536048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6B-4CC7-8A55-94E0F7C01B52}"/>
                </c:ext>
              </c:extLst>
            </c:dLbl>
            <c:dLbl>
              <c:idx val="9"/>
              <c:layout>
                <c:manualLayout>
                  <c:x val="-1.1869981853444881E-16"/>
                  <c:y val="-4.708995219072097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FC6B-4CC7-8A55-94E0F7C01B52}"/>
                </c:ext>
              </c:extLst>
            </c:dLbl>
            <c:dLbl>
              <c:idx val="10"/>
              <c:layout>
                <c:manualLayout>
                  <c:x val="-1.6186525877029305E-3"/>
                  <c:y val="-4.238095697164888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C6B-4CC7-8A55-94E0F7C01B52}"/>
                </c:ext>
              </c:extLst>
            </c:dLbl>
            <c:dLbl>
              <c:idx val="11"/>
              <c:layout>
                <c:manualLayout>
                  <c:x val="-1.1869981853444881E-16"/>
                  <c:y val="-2.82539713144325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C6B-4CC7-8A55-94E0F7C01B52}"/>
                </c:ext>
              </c:extLst>
            </c:dLbl>
            <c:dLbl>
              <c:idx val="12"/>
              <c:layout>
                <c:manualLayout>
                  <c:x val="-3.2373051754059799E-3"/>
                  <c:y val="-3.767196175257683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C6B-4CC7-8A55-94E0F7C01B52}"/>
                </c:ext>
              </c:extLst>
            </c:dLbl>
            <c:dLbl>
              <c:idx val="13"/>
              <c:layout>
                <c:manualLayout>
                  <c:x val="-1.6186525877030494E-3"/>
                  <c:y val="-3.76719617525767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C6B-4CC7-8A55-94E0F7C01B52}"/>
                </c:ext>
              </c:extLst>
            </c:dLbl>
            <c:dLbl>
              <c:idx val="14"/>
              <c:layout>
                <c:manualLayout>
                  <c:x val="-1.1869981853444881E-16"/>
                  <c:y val="-4.70899521907210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C6B-4CC7-8A55-94E0F7C01B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7 - CLV Customer Tenure'!$I$3:$I$18</c:f>
              <c:strCache>
                <c:ptCount val="15"/>
                <c:pt idx="0">
                  <c:v>Daan Peeters</c:v>
                </c:pt>
                <c:pt idx="1">
                  <c:v>Kara Nielsen</c:v>
                </c:pt>
                <c:pt idx="2">
                  <c:v>Bj��rn Hansen</c:v>
                </c:pt>
                <c:pt idx="3">
                  <c:v>Michelle Brooks</c:v>
                </c:pt>
                <c:pt idx="4">
                  <c:v>Steve Murray</c:v>
                </c:pt>
                <c:pt idx="5">
                  <c:v>Hannah Schneider</c:v>
                </c:pt>
                <c:pt idx="6">
                  <c:v>Camille Bernard</c:v>
                </c:pt>
                <c:pt idx="7">
                  <c:v>Tim Goyer</c:v>
                </c:pt>
                <c:pt idx="8">
                  <c:v>Niklas Schr��der</c:v>
                </c:pt>
                <c:pt idx="9">
                  <c:v>Johannes Van der Berg</c:v>
                </c:pt>
                <c:pt idx="10">
                  <c:v>Isabelle Mercier</c:v>
                </c:pt>
                <c:pt idx="11">
                  <c:v>Fran��ois Tremblay</c:v>
                </c:pt>
                <c:pt idx="12">
                  <c:v>Luis Rojas</c:v>
                </c:pt>
                <c:pt idx="13">
                  <c:v>Enrique Mu��oz</c:v>
                </c:pt>
                <c:pt idx="14">
                  <c:v>Alexandre Rocha</c:v>
                </c:pt>
              </c:strCache>
            </c:strRef>
          </c:cat>
          <c:val>
            <c:numRef>
              <c:f>'Sub 7 - CLV Customer Tenure'!$K$3:$K$18</c:f>
              <c:numCache>
                <c:formatCode>General</c:formatCode>
                <c:ptCount val="15"/>
                <c:pt idx="0">
                  <c:v>7</c:v>
                </c:pt>
                <c:pt idx="1">
                  <c:v>10</c:v>
                </c:pt>
                <c:pt idx="2">
                  <c:v>9</c:v>
                </c:pt>
                <c:pt idx="3">
                  <c:v>8</c:v>
                </c:pt>
                <c:pt idx="4">
                  <c:v>9</c:v>
                </c:pt>
                <c:pt idx="5">
                  <c:v>11</c:v>
                </c:pt>
                <c:pt idx="6">
                  <c:v>9</c:v>
                </c:pt>
                <c:pt idx="7">
                  <c:v>9</c:v>
                </c:pt>
                <c:pt idx="8">
                  <c:v>9</c:v>
                </c:pt>
                <c:pt idx="9">
                  <c:v>10</c:v>
                </c:pt>
                <c:pt idx="10">
                  <c:v>12</c:v>
                </c:pt>
                <c:pt idx="11">
                  <c:v>9</c:v>
                </c:pt>
                <c:pt idx="12">
                  <c:v>13</c:v>
                </c:pt>
                <c:pt idx="13">
                  <c:v>11</c:v>
                </c:pt>
                <c:pt idx="1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C6B-4CC7-8A55-94E0F7C01B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80648000"/>
        <c:axId val="1880648960"/>
      </c:barChart>
      <c:catAx>
        <c:axId val="1880648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0648960"/>
        <c:crosses val="autoZero"/>
        <c:auto val="1"/>
        <c:lblAlgn val="ctr"/>
        <c:lblOffset val="100"/>
        <c:noMultiLvlLbl val="0"/>
      </c:catAx>
      <c:valAx>
        <c:axId val="1880648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064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7-CLV Churn Top 10!PivotTable15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Customers - Average Order Value and Days since last Purchase - Greatest to Least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5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8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1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11"/>
        <c:dLbl>
          <c:idx val="0"/>
          <c:layout>
            <c:manualLayout>
              <c:x val="0"/>
              <c:y val="-9.2592592592592629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12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1.851851851851852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666666666666971E-3"/>
              <c:y val="-3.7037037037037035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111040515849597E-17"/>
              <c:y val="-2.777777777777782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111040515849597E-17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1.851851851851852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666666666666971E-3"/>
              <c:y val="-3.7037037037037035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111040515849597E-17"/>
              <c:y val="-2.777777777777782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111040515849597E-17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1.851851851851852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1.6666666666666971E-3"/>
              <c:y val="-3.7037037037037035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111040515849597E-17"/>
              <c:y val="-2.777777777777782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6.111040515849597E-17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2.777777777777777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3.240740740740740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'Sub 7-CLV Churn Top 10'!$L$2</c:f>
              <c:strCache>
                <c:ptCount val="1"/>
                <c:pt idx="0">
                  <c:v>Days since last purchase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7-CLV Churn Top 10'!$K$3:$K$13</c:f>
              <c:strCache>
                <c:ptCount val="10"/>
                <c:pt idx="0">
                  <c:v>Daan Peeters</c:v>
                </c:pt>
                <c:pt idx="1">
                  <c:v>Kara Nielsen</c:v>
                </c:pt>
                <c:pt idx="2">
                  <c:v>Bj��rn Hansen</c:v>
                </c:pt>
                <c:pt idx="3">
                  <c:v>Michelle Brooks</c:v>
                </c:pt>
                <c:pt idx="4">
                  <c:v>Steve Murray</c:v>
                </c:pt>
                <c:pt idx="5">
                  <c:v>Hannah Schneider</c:v>
                </c:pt>
                <c:pt idx="6">
                  <c:v>Camille Bernard</c:v>
                </c:pt>
                <c:pt idx="7">
                  <c:v>Tim Goyer</c:v>
                </c:pt>
                <c:pt idx="8">
                  <c:v>Niklas Schr��der</c:v>
                </c:pt>
                <c:pt idx="9">
                  <c:v>Johannes Van der Berg</c:v>
                </c:pt>
              </c:strCache>
            </c:strRef>
          </c:cat>
          <c:val>
            <c:numRef>
              <c:f>'Sub 7-CLV Churn Top 10'!$L$3:$L$13</c:f>
              <c:numCache>
                <c:formatCode>General</c:formatCode>
                <c:ptCount val="10"/>
                <c:pt idx="0">
                  <c:v>1865</c:v>
                </c:pt>
                <c:pt idx="1">
                  <c:v>1735</c:v>
                </c:pt>
                <c:pt idx="2">
                  <c:v>1729</c:v>
                </c:pt>
                <c:pt idx="3">
                  <c:v>1699</c:v>
                </c:pt>
                <c:pt idx="4">
                  <c:v>1679</c:v>
                </c:pt>
                <c:pt idx="5">
                  <c:v>1666</c:v>
                </c:pt>
                <c:pt idx="6">
                  <c:v>1662</c:v>
                </c:pt>
                <c:pt idx="7">
                  <c:v>1659</c:v>
                </c:pt>
                <c:pt idx="8">
                  <c:v>1651</c:v>
                </c:pt>
                <c:pt idx="9">
                  <c:v>1646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70-4FBD-9EB5-74979EF38CEE}"/>
            </c:ext>
          </c:extLst>
        </c:ser>
        <c:ser>
          <c:idx val="1"/>
          <c:order val="1"/>
          <c:tx>
            <c:strRef>
              <c:f>'Sub 7-CLV Churn Top 10'!$M$2</c:f>
              <c:strCache>
                <c:ptCount val="1"/>
                <c:pt idx="0">
                  <c:v>Average Order Value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-1.85185185185185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D70-4FBD-9EB5-74979EF38CEE}"/>
                </c:ext>
              </c:extLst>
            </c:dLbl>
            <c:dLbl>
              <c:idx val="1"/>
              <c:layout>
                <c:manualLayout>
                  <c:x val="0"/>
                  <c:y val="-2.77777777777777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D70-4FBD-9EB5-74979EF38CEE}"/>
                </c:ext>
              </c:extLst>
            </c:dLbl>
            <c:dLbl>
              <c:idx val="2"/>
              <c:layout>
                <c:manualLayout>
                  <c:x val="-1.6666666666666971E-3"/>
                  <c:y val="-3.703703703703703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D70-4FBD-9EB5-74979EF38CEE}"/>
                </c:ext>
              </c:extLst>
            </c:dLbl>
            <c:dLbl>
              <c:idx val="3"/>
              <c:layout>
                <c:manualLayout>
                  <c:x val="0"/>
                  <c:y val="-3.24074074074074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D70-4FBD-9EB5-74979EF38CEE}"/>
                </c:ext>
              </c:extLst>
            </c:dLbl>
            <c:dLbl>
              <c:idx val="4"/>
              <c:layout>
                <c:manualLayout>
                  <c:x val="0"/>
                  <c:y val="-2.77777777777777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D70-4FBD-9EB5-74979EF38CEE}"/>
                </c:ext>
              </c:extLst>
            </c:dLbl>
            <c:dLbl>
              <c:idx val="5"/>
              <c:layout>
                <c:manualLayout>
                  <c:x val="-6.111040515849597E-17"/>
                  <c:y val="-2.777777777777782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D70-4FBD-9EB5-74979EF38CEE}"/>
                </c:ext>
              </c:extLst>
            </c:dLbl>
            <c:dLbl>
              <c:idx val="6"/>
              <c:layout>
                <c:manualLayout>
                  <c:x val="-6.111040515849597E-17"/>
                  <c:y val="-3.24074074074074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D70-4FBD-9EB5-74979EF38CEE}"/>
                </c:ext>
              </c:extLst>
            </c:dLbl>
            <c:dLbl>
              <c:idx val="7"/>
              <c:layout>
                <c:manualLayout>
                  <c:x val="0"/>
                  <c:y val="-2.77777777777777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D70-4FBD-9EB5-74979EF38CEE}"/>
                </c:ext>
              </c:extLst>
            </c:dLbl>
            <c:dLbl>
              <c:idx val="8"/>
              <c:layout>
                <c:manualLayout>
                  <c:x val="0"/>
                  <c:y val="-3.24074074074074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D70-4FBD-9EB5-74979EF38CEE}"/>
                </c:ext>
              </c:extLst>
            </c:dLbl>
            <c:dLbl>
              <c:idx val="9"/>
              <c:layout>
                <c:manualLayout>
                  <c:x val="0"/>
                  <c:y val="-3.24074074074074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D70-4FBD-9EB5-74979EF38CEE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7-CLV Churn Top 10'!$K$3:$K$13</c:f>
              <c:strCache>
                <c:ptCount val="10"/>
                <c:pt idx="0">
                  <c:v>Daan Peeters</c:v>
                </c:pt>
                <c:pt idx="1">
                  <c:v>Kara Nielsen</c:v>
                </c:pt>
                <c:pt idx="2">
                  <c:v>Bj��rn Hansen</c:v>
                </c:pt>
                <c:pt idx="3">
                  <c:v>Michelle Brooks</c:v>
                </c:pt>
                <c:pt idx="4">
                  <c:v>Steve Murray</c:v>
                </c:pt>
                <c:pt idx="5">
                  <c:v>Hannah Schneider</c:v>
                </c:pt>
                <c:pt idx="6">
                  <c:v>Camille Bernard</c:v>
                </c:pt>
                <c:pt idx="7">
                  <c:v>Tim Goyer</c:v>
                </c:pt>
                <c:pt idx="8">
                  <c:v>Niklas Schr��der</c:v>
                </c:pt>
                <c:pt idx="9">
                  <c:v>Johannes Van der Berg</c:v>
                </c:pt>
              </c:strCache>
            </c:strRef>
          </c:cat>
          <c:val>
            <c:numRef>
              <c:f>'Sub 7-CLV Churn Top 10'!$M$3:$M$13</c:f>
              <c:numCache>
                <c:formatCode>General</c:formatCode>
                <c:ptCount val="10"/>
                <c:pt idx="0">
                  <c:v>8.6300000000000008</c:v>
                </c:pt>
                <c:pt idx="1">
                  <c:v>3.76</c:v>
                </c:pt>
                <c:pt idx="2">
                  <c:v>8.0299999999999994</c:v>
                </c:pt>
                <c:pt idx="3">
                  <c:v>9.9</c:v>
                </c:pt>
                <c:pt idx="4">
                  <c:v>8.8000000000000007</c:v>
                </c:pt>
                <c:pt idx="5">
                  <c:v>7.74</c:v>
                </c:pt>
                <c:pt idx="6">
                  <c:v>8.8000000000000007</c:v>
                </c:pt>
                <c:pt idx="7">
                  <c:v>6.05</c:v>
                </c:pt>
                <c:pt idx="8">
                  <c:v>8.14</c:v>
                </c:pt>
                <c:pt idx="9">
                  <c:v>6.53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D70-4FBD-9EB5-74979EF38C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92935776"/>
        <c:axId val="1792953536"/>
      </c:barChart>
      <c:catAx>
        <c:axId val="179293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953536"/>
        <c:crosses val="autoZero"/>
        <c:auto val="1"/>
        <c:lblAlgn val="ctr"/>
        <c:lblOffset val="100"/>
        <c:noMultiLvlLbl val="0"/>
      </c:catAx>
      <c:valAx>
        <c:axId val="179295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935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7-CLV Churn Bottom!PivotTable15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Customers - Average Order Value and Days since last Purchase - Least to Greatest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5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8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1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11"/>
        <c:dLbl>
          <c:idx val="0"/>
          <c:layout>
            <c:manualLayout>
              <c:x val="0"/>
              <c:y val="-9.2592592592592629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3.6149538866930168E-2"/>
                  <c:h val="6.4745552639253426E-2"/>
                </c:manualLayout>
              </c15:layout>
            </c:ext>
          </c:extLst>
        </c:dLbl>
      </c:pivotFmt>
      <c:pivotFmt>
        <c:idx val="12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dLbl>
          <c:idx val="0"/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6"/>
        <c:dLbl>
          <c:idx val="0"/>
          <c:layout>
            <c:manualLayout>
              <c:x val="0"/>
              <c:y val="-1.8518518518518524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dLbl>
          <c:idx val="0"/>
          <c:layout>
            <c:manualLayout>
              <c:x val="-1.6666666666666971E-3"/>
              <c:y val="-3.7037037037037035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dLbl>
          <c:idx val="0"/>
          <c:layout>
            <c:manualLayout>
              <c:x val="-6.111040515849597E-17"/>
              <c:y val="-2.7777777777777821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dLbl>
          <c:idx val="0"/>
          <c:layout>
            <c:manualLayout>
              <c:x val="-6.111040515849597E-17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dLbl>
          <c:idx val="0"/>
          <c:layout>
            <c:manualLayout>
              <c:x val="0"/>
              <c:y val="-2.777777777777777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dLbl>
          <c:idx val="0"/>
          <c:layout>
            <c:manualLayout>
              <c:x val="0"/>
              <c:y val="-3.2407407407407406E-2"/>
            </c:manualLayout>
          </c:layout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722238463594121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1.8355462344954335E-3"/>
              <c:y val="-8.751867508667217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3334863808623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3334863808624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5.077794178574182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9.1999978477691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385200901784737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5.9414904940081816E-17"/>
              <c:y val="-9.685182428469718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2.9707452470040908E-17"/>
              <c:y val="-8.7666820312037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4816316062278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4816316062278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1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2.9707452470040908E-17"/>
              <c:y val="-8.7666820312037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5.9414904940081816E-17"/>
              <c:y val="-9.685182428469718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385200901784737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9.1999978477691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5.077794178574182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3334863808624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3334863808623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1.8355462344954335E-3"/>
              <c:y val="-8.751867508667217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722238463594121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0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4816316062278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1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2.9707452470040908E-17"/>
              <c:y val="-8.766682031203761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2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-5.9414904940081816E-17"/>
              <c:y val="-9.685182428469718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3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7.385200901784737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4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9.19999784776912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5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5.077794178574182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6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33348638086241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7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0.10133348638086237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8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1.8355462344954335E-3"/>
              <c:y val="-8.751867508667217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9"/>
        <c:spPr>
          <a:gradFill rotWithShape="1">
            <a:gsLst>
              <a:gs pos="0">
                <a:schemeClr val="accent2">
                  <a:satMod val="103000"/>
                  <a:lumMod val="102000"/>
                  <a:tint val="94000"/>
                </a:schemeClr>
              </a:gs>
              <a:gs pos="50000">
                <a:schemeClr val="accent2">
                  <a:satMod val="110000"/>
                  <a:lumMod val="100000"/>
                  <a:shade val="100000"/>
                </a:schemeClr>
              </a:gs>
              <a:gs pos="100000">
                <a:schemeClr val="accent2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dLbl>
          <c:idx val="0"/>
          <c:layout>
            <c:manualLayout>
              <c:x val="0"/>
              <c:y val="-8.722238463594121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'Sub 7-CLV Churn Bottom'!$L$2</c:f>
              <c:strCache>
                <c:ptCount val="1"/>
                <c:pt idx="0">
                  <c:v>Days since last purchase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7-CLV Churn Bottom'!$K$3:$K$13</c:f>
              <c:strCache>
                <c:ptCount val="10"/>
                <c:pt idx="0">
                  <c:v>Phil Hughes</c:v>
                </c:pt>
                <c:pt idx="1">
                  <c:v>Dan Miller</c:v>
                </c:pt>
                <c:pt idx="2">
                  <c:v>Emma Jones</c:v>
                </c:pt>
                <c:pt idx="3">
                  <c:v>Ellie Sullivan</c:v>
                </c:pt>
                <c:pt idx="4">
                  <c:v>Mark Taylor</c:v>
                </c:pt>
                <c:pt idx="5">
                  <c:v>Mark Philips</c:v>
                </c:pt>
                <c:pt idx="6">
                  <c:v>Stanis��aw W��jcik</c:v>
                </c:pt>
                <c:pt idx="7">
                  <c:v>Puja Srivastava</c:v>
                </c:pt>
                <c:pt idx="8">
                  <c:v>Jennifer Peterson</c:v>
                </c:pt>
                <c:pt idx="9">
                  <c:v>Madalena Sampaio</c:v>
                </c:pt>
              </c:strCache>
            </c:strRef>
          </c:cat>
          <c:val>
            <c:numRef>
              <c:f>'Sub 7-CLV Churn Bottom'!$L$3:$L$13</c:f>
              <c:numCache>
                <c:formatCode>General</c:formatCode>
                <c:ptCount val="10"/>
                <c:pt idx="0">
                  <c:v>1399</c:v>
                </c:pt>
                <c:pt idx="1">
                  <c:v>1400</c:v>
                </c:pt>
                <c:pt idx="2">
                  <c:v>1402</c:v>
                </c:pt>
                <c:pt idx="3">
                  <c:v>1402</c:v>
                </c:pt>
                <c:pt idx="4">
                  <c:v>1408</c:v>
                </c:pt>
                <c:pt idx="5">
                  <c:v>1409</c:v>
                </c:pt>
                <c:pt idx="6">
                  <c:v>1409</c:v>
                </c:pt>
                <c:pt idx="7">
                  <c:v>1410</c:v>
                </c:pt>
                <c:pt idx="8">
                  <c:v>1411</c:v>
                </c:pt>
                <c:pt idx="9">
                  <c:v>1412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9A-49EE-BAB1-FB1294175F10}"/>
            </c:ext>
          </c:extLst>
        </c:ser>
        <c:ser>
          <c:idx val="1"/>
          <c:order val="1"/>
          <c:tx>
            <c:strRef>
              <c:f>'Sub 7-CLV Churn Bottom'!$M$2</c:f>
              <c:strCache>
                <c:ptCount val="1"/>
                <c:pt idx="0">
                  <c:v>Average Order Value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-0.1014816316062278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29A-49EE-BAB1-FB1294175F10}"/>
                </c:ext>
              </c:extLst>
            </c:dLbl>
            <c:dLbl>
              <c:idx val="1"/>
              <c:layout>
                <c:manualLayout>
                  <c:x val="-2.9707452470040908E-17"/>
                  <c:y val="-8.76668203120376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29A-49EE-BAB1-FB1294175F10}"/>
                </c:ext>
              </c:extLst>
            </c:dLbl>
            <c:dLbl>
              <c:idx val="2"/>
              <c:layout>
                <c:manualLayout>
                  <c:x val="-5.9414904940081816E-17"/>
                  <c:y val="-9.685182428469718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29A-49EE-BAB1-FB1294175F10}"/>
                </c:ext>
              </c:extLst>
            </c:dLbl>
            <c:dLbl>
              <c:idx val="3"/>
              <c:layout>
                <c:manualLayout>
                  <c:x val="0"/>
                  <c:y val="-7.385200901784737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29A-49EE-BAB1-FB1294175F10}"/>
                </c:ext>
              </c:extLst>
            </c:dLbl>
            <c:dLbl>
              <c:idx val="4"/>
              <c:layout>
                <c:manualLayout>
                  <c:x val="0"/>
                  <c:y val="-9.19999784776912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29A-49EE-BAB1-FB1294175F10}"/>
                </c:ext>
              </c:extLst>
            </c:dLbl>
            <c:dLbl>
              <c:idx val="5"/>
              <c:layout>
                <c:manualLayout>
                  <c:x val="0"/>
                  <c:y val="-5.077794178574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29A-49EE-BAB1-FB1294175F10}"/>
                </c:ext>
              </c:extLst>
            </c:dLbl>
            <c:dLbl>
              <c:idx val="6"/>
              <c:layout>
                <c:manualLayout>
                  <c:x val="0"/>
                  <c:y val="-0.1013334863808624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29A-49EE-BAB1-FB1294175F10}"/>
                </c:ext>
              </c:extLst>
            </c:dLbl>
            <c:dLbl>
              <c:idx val="7"/>
              <c:layout>
                <c:manualLayout>
                  <c:x val="0"/>
                  <c:y val="-0.101333486380862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29A-49EE-BAB1-FB1294175F10}"/>
                </c:ext>
              </c:extLst>
            </c:dLbl>
            <c:dLbl>
              <c:idx val="8"/>
              <c:layout>
                <c:manualLayout>
                  <c:x val="1.8355462344954335E-3"/>
                  <c:y val="-8.751867508667217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9A-49EE-BAB1-FB1294175F10}"/>
                </c:ext>
              </c:extLst>
            </c:dLbl>
            <c:dLbl>
              <c:idx val="9"/>
              <c:layout>
                <c:manualLayout>
                  <c:x val="0"/>
                  <c:y val="-8.722238463594121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29A-49EE-BAB1-FB1294175F10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7-CLV Churn Bottom'!$K$3:$K$13</c:f>
              <c:strCache>
                <c:ptCount val="10"/>
                <c:pt idx="0">
                  <c:v>Phil Hughes</c:v>
                </c:pt>
                <c:pt idx="1">
                  <c:v>Dan Miller</c:v>
                </c:pt>
                <c:pt idx="2">
                  <c:v>Emma Jones</c:v>
                </c:pt>
                <c:pt idx="3">
                  <c:v>Ellie Sullivan</c:v>
                </c:pt>
                <c:pt idx="4">
                  <c:v>Mark Taylor</c:v>
                </c:pt>
                <c:pt idx="5">
                  <c:v>Mark Philips</c:v>
                </c:pt>
                <c:pt idx="6">
                  <c:v>Stanis��aw W��jcik</c:v>
                </c:pt>
                <c:pt idx="7">
                  <c:v>Puja Srivastava</c:v>
                </c:pt>
                <c:pt idx="8">
                  <c:v>Jennifer Peterson</c:v>
                </c:pt>
                <c:pt idx="9">
                  <c:v>Madalena Sampaio</c:v>
                </c:pt>
              </c:strCache>
            </c:strRef>
          </c:cat>
          <c:val>
            <c:numRef>
              <c:f>'Sub 7-CLV Churn Bottom'!$M$3:$M$13</c:f>
              <c:numCache>
                <c:formatCode>General</c:formatCode>
                <c:ptCount val="10"/>
                <c:pt idx="0">
                  <c:v>8.91</c:v>
                </c:pt>
                <c:pt idx="1">
                  <c:v>7.92</c:v>
                </c:pt>
                <c:pt idx="2">
                  <c:v>8.5399999999999991</c:v>
                </c:pt>
                <c:pt idx="3">
                  <c:v>6.27</c:v>
                </c:pt>
                <c:pt idx="4">
                  <c:v>8.1199999999999992</c:v>
                </c:pt>
                <c:pt idx="5">
                  <c:v>2.97</c:v>
                </c:pt>
                <c:pt idx="6">
                  <c:v>7.62</c:v>
                </c:pt>
                <c:pt idx="7">
                  <c:v>8.91</c:v>
                </c:pt>
                <c:pt idx="8">
                  <c:v>7.37</c:v>
                </c:pt>
                <c:pt idx="9">
                  <c:v>5.14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B29A-49EE-BAB1-FB1294175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92935776"/>
        <c:axId val="1792953536"/>
      </c:barChart>
      <c:catAx>
        <c:axId val="1792935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953536"/>
        <c:crosses val="autoZero"/>
        <c:auto val="1"/>
        <c:lblAlgn val="ctr"/>
        <c:lblOffset val="100"/>
        <c:noMultiLvlLbl val="0"/>
      </c:catAx>
      <c:valAx>
        <c:axId val="1792953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2935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[Chinook Analysis.xlsx]Sub 11-Purchasing Behaviour !PivotTable11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Customers Purchases based on Geographic 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 11-Purchasing Behaviour '!$H$2</c:f>
              <c:strCache>
                <c:ptCount val="1"/>
                <c:pt idx="0">
                  <c:v>Average Total Spent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7000"/>
                    <a:satMod val="100000"/>
                    <a:lumMod val="102000"/>
                  </a:schemeClr>
                </a:gs>
                <a:gs pos="50000">
                  <a:schemeClr val="accent1">
                    <a:shade val="100000"/>
                    <a:satMod val="100000"/>
                    <a:lumMod val="100000"/>
                  </a:schemeClr>
                </a:gs>
                <a:gs pos="100000">
                  <a:schemeClr val="accent1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11-Purchasing Behaviour '!$G$3:$G$15</c:f>
              <c:strCache>
                <c:ptCount val="12"/>
                <c:pt idx="0">
                  <c:v>Czech Republic</c:v>
                </c:pt>
                <c:pt idx="1">
                  <c:v>Ireland</c:v>
                </c:pt>
                <c:pt idx="2">
                  <c:v>Spain</c:v>
                </c:pt>
                <c:pt idx="3">
                  <c:v>Chile</c:v>
                </c:pt>
                <c:pt idx="4">
                  <c:v>Portugal</c:v>
                </c:pt>
                <c:pt idx="5">
                  <c:v>India</c:v>
                </c:pt>
                <c:pt idx="6">
                  <c:v>Brazil</c:v>
                </c:pt>
                <c:pt idx="7">
                  <c:v>Germany</c:v>
                </c:pt>
                <c:pt idx="8">
                  <c:v>United Kingdom</c:v>
                </c:pt>
                <c:pt idx="9">
                  <c:v>Australia</c:v>
                </c:pt>
                <c:pt idx="10">
                  <c:v>USA</c:v>
                </c:pt>
                <c:pt idx="11">
                  <c:v>Finland</c:v>
                </c:pt>
              </c:strCache>
            </c:strRef>
          </c:cat>
          <c:val>
            <c:numRef>
              <c:f>'Sub 11-Purchasing Behaviour '!$H$3:$H$15</c:f>
              <c:numCache>
                <c:formatCode>General</c:formatCode>
                <c:ptCount val="12"/>
                <c:pt idx="0">
                  <c:v>136.62</c:v>
                </c:pt>
                <c:pt idx="1">
                  <c:v>114.84</c:v>
                </c:pt>
                <c:pt idx="2">
                  <c:v>98.01</c:v>
                </c:pt>
                <c:pt idx="3">
                  <c:v>97.02</c:v>
                </c:pt>
                <c:pt idx="4">
                  <c:v>92.57</c:v>
                </c:pt>
                <c:pt idx="5">
                  <c:v>91.58</c:v>
                </c:pt>
                <c:pt idx="6">
                  <c:v>85.54</c:v>
                </c:pt>
                <c:pt idx="7">
                  <c:v>83.66</c:v>
                </c:pt>
                <c:pt idx="8">
                  <c:v>81.84</c:v>
                </c:pt>
                <c:pt idx="9">
                  <c:v>81.180000000000007</c:v>
                </c:pt>
                <c:pt idx="10">
                  <c:v>80.040000000000006</c:v>
                </c:pt>
                <c:pt idx="11">
                  <c:v>79.2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D9-4324-9FB6-DD970C30B2FE}"/>
            </c:ext>
          </c:extLst>
        </c:ser>
        <c:ser>
          <c:idx val="1"/>
          <c:order val="1"/>
          <c:tx>
            <c:strRef>
              <c:f>'Sub 11-Purchasing Behaviour '!$I$2</c:f>
              <c:strCache>
                <c:ptCount val="1"/>
                <c:pt idx="0">
                  <c:v>Number of customers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7000"/>
                    <a:satMod val="100000"/>
                    <a:lumMod val="102000"/>
                  </a:schemeClr>
                </a:gs>
                <a:gs pos="50000">
                  <a:schemeClr val="accent2">
                    <a:shade val="100000"/>
                    <a:satMod val="100000"/>
                    <a:lumMod val="100000"/>
                  </a:schemeClr>
                </a:gs>
                <a:gs pos="100000">
                  <a:schemeClr val="accent2">
                    <a:shade val="80000"/>
                    <a:satMod val="100000"/>
                    <a:lumMod val="99000"/>
                  </a:schemeClr>
                </a:gs>
              </a:gsLst>
              <a:lin ang="27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 11-Purchasing Behaviour '!$G$3:$G$15</c:f>
              <c:strCache>
                <c:ptCount val="12"/>
                <c:pt idx="0">
                  <c:v>Czech Republic</c:v>
                </c:pt>
                <c:pt idx="1">
                  <c:v>Ireland</c:v>
                </c:pt>
                <c:pt idx="2">
                  <c:v>Spain</c:v>
                </c:pt>
                <c:pt idx="3">
                  <c:v>Chile</c:v>
                </c:pt>
                <c:pt idx="4">
                  <c:v>Portugal</c:v>
                </c:pt>
                <c:pt idx="5">
                  <c:v>India</c:v>
                </c:pt>
                <c:pt idx="6">
                  <c:v>Brazil</c:v>
                </c:pt>
                <c:pt idx="7">
                  <c:v>Germany</c:v>
                </c:pt>
                <c:pt idx="8">
                  <c:v>United Kingdom</c:v>
                </c:pt>
                <c:pt idx="9">
                  <c:v>Australia</c:v>
                </c:pt>
                <c:pt idx="10">
                  <c:v>USA</c:v>
                </c:pt>
                <c:pt idx="11">
                  <c:v>Finland</c:v>
                </c:pt>
              </c:strCache>
            </c:strRef>
          </c:cat>
          <c:val>
            <c:numRef>
              <c:f>'Sub 11-Purchasing Behaviour '!$I$3:$I$15</c:f>
              <c:numCache>
                <c:formatCode>General</c:formatCode>
                <c:ptCount val="12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5</c:v>
                </c:pt>
                <c:pt idx="7">
                  <c:v>4</c:v>
                </c:pt>
                <c:pt idx="8">
                  <c:v>3</c:v>
                </c:pt>
                <c:pt idx="9">
                  <c:v>1</c:v>
                </c:pt>
                <c:pt idx="10">
                  <c:v>13</c:v>
                </c:pt>
                <c:pt idx="1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D9-4324-9FB6-DD970C30B2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936070048"/>
        <c:axId val="1936054208"/>
      </c:barChart>
      <c:catAx>
        <c:axId val="1936070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054208"/>
        <c:crosses val="autoZero"/>
        <c:auto val="1"/>
        <c:lblAlgn val="ctr"/>
        <c:lblOffset val="100"/>
        <c:noMultiLvlLbl val="0"/>
      </c:catAx>
      <c:valAx>
        <c:axId val="1936054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360700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9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34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27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98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1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31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45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1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8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37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2211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96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13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C177E7D-BF71-4075-A19D-3BC798485C3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294AC088-97D4-4FB2-AAFA-F059CA588AA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80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E9D94E9-96C9-43DC-C947-1C6F2A45C1FE}"/>
              </a:ext>
            </a:extLst>
          </p:cNvPr>
          <p:cNvSpPr txBox="1"/>
          <p:nvPr/>
        </p:nvSpPr>
        <p:spPr>
          <a:xfrm>
            <a:off x="8878529" y="5433621"/>
            <a:ext cx="3313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/>
              <a:t>BY – Ram Kumar</a:t>
            </a:r>
          </a:p>
          <a:p>
            <a:pPr algn="ctr"/>
            <a:r>
              <a:rPr lang="en-IN" sz="2400" b="1" dirty="0"/>
              <a:t>10/08/2026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B667B5-0949-BF76-1A41-DFF2DAF0C7D9}"/>
              </a:ext>
            </a:extLst>
          </p:cNvPr>
          <p:cNvSpPr/>
          <p:nvPr/>
        </p:nvSpPr>
        <p:spPr>
          <a:xfrm>
            <a:off x="904568" y="324465"/>
            <a:ext cx="10382864" cy="830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dirty="0"/>
              <a:t>Chinook Music Store Analysis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0AA6452-FF1C-A89B-019E-F0461B8A60E2}"/>
              </a:ext>
            </a:extLst>
          </p:cNvPr>
          <p:cNvSpPr/>
          <p:nvPr/>
        </p:nvSpPr>
        <p:spPr>
          <a:xfrm>
            <a:off x="766916" y="1401098"/>
            <a:ext cx="8214852" cy="5132438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83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6B61-07A3-5DD3-371D-9DB162A1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665" y="719087"/>
            <a:ext cx="3400732" cy="1031056"/>
          </a:xfrm>
        </p:spPr>
        <p:txBody>
          <a:bodyPr>
            <a:normAutofit/>
          </a:bodyPr>
          <a:lstStyle/>
          <a:p>
            <a:r>
              <a:rPr lang="en-IN" sz="5000" b="1" u="sng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BEC93-37C8-0418-16C6-4D5C18DA7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24487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1.Problem Statement				2.Data Description</a:t>
            </a:r>
          </a:p>
          <a:p>
            <a:r>
              <a:rPr lang="en-IN" sz="2000" dirty="0"/>
              <a:t>Business goals &amp; strategic questions	</a:t>
            </a:r>
            <a:r>
              <a:rPr lang="en-IN" dirty="0"/>
              <a:t>	 </a:t>
            </a:r>
            <a:r>
              <a:rPr lang="en-IN" sz="2000" dirty="0"/>
              <a:t>Database schema &amp; table overview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3.Key Metrics &amp; Visualizations			4.Subjective Insights</a:t>
            </a:r>
          </a:p>
          <a:p>
            <a:pPr marL="0" indent="0">
              <a:buNone/>
            </a:pPr>
            <a:r>
              <a:rPr lang="en-IN" sz="2000" dirty="0"/>
              <a:t>Customer demographics &amp; sales insights                            </a:t>
            </a:r>
            <a:r>
              <a:rPr lang="en-IN" dirty="0"/>
              <a:t>Strategic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240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2527-C6A2-102D-48BD-3B0BDB284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633" y="276635"/>
            <a:ext cx="5657235" cy="1325563"/>
          </a:xfrm>
        </p:spPr>
        <p:txBody>
          <a:bodyPr>
            <a:noAutofit/>
          </a:bodyPr>
          <a:lstStyle/>
          <a:p>
            <a:r>
              <a:rPr lang="en-IN" sz="5000" b="1" u="sng" dirty="0"/>
              <a:t>Problem Statement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D06CA-85AA-BB4F-9FC1-2867BB4B8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Chinook seeks to gain insights into customer purchasing behavior and market dynamics in the music industry. 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By analyzing sales data, the company aims to identify top-selling tracks and artists, understand customer demographics, and assess purchasing trends across different genres and geographic locations. 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This analysis will facilitate targeted marketing strategies, enhance customer retention efforts, and inform promotional initiatives for new record label albums based on genre performance and regional preferences. 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Additionally, Chinook aims to develop risk profiles for customer segments to better predict churn and improve customer lifetime value modeling.</a:t>
            </a:r>
          </a:p>
        </p:txBody>
      </p:sp>
    </p:spTree>
    <p:extLst>
      <p:ext uri="{BB962C8B-B14F-4D97-AF65-F5344CB8AC3E}">
        <p14:creationId xmlns:p14="http://schemas.microsoft.com/office/powerpoint/2010/main" val="911033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0211-7F3E-7DDE-D298-90B165E24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7710" y="-146153"/>
            <a:ext cx="4451555" cy="1325563"/>
          </a:xfrm>
        </p:spPr>
        <p:txBody>
          <a:bodyPr>
            <a:normAutofit fontScale="90000"/>
          </a:bodyPr>
          <a:lstStyle/>
          <a:p>
            <a:r>
              <a:rPr lang="en-IN" sz="5600" b="1" u="sng" dirty="0"/>
              <a:t>Database</a:t>
            </a:r>
            <a:r>
              <a:rPr lang="en-IN" b="1" u="sng" dirty="0"/>
              <a:t> Schema</a:t>
            </a:r>
          </a:p>
        </p:txBody>
      </p:sp>
      <p:pic>
        <p:nvPicPr>
          <p:cNvPr id="5" name="Google Shape;79;p17">
            <a:extLst>
              <a:ext uri="{FF2B5EF4-FFF2-40B4-BE49-F238E27FC236}">
                <a16:creationId xmlns:a16="http://schemas.microsoft.com/office/drawing/2014/main" id="{09D8AFFD-9D0D-5621-E30D-CED54DA62141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491" y="1101213"/>
            <a:ext cx="10491018" cy="56240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175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694A-5016-D111-D359-82FCCC194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6646" y="1527296"/>
            <a:ext cx="12585291" cy="3803408"/>
          </a:xfrm>
        </p:spPr>
        <p:txBody>
          <a:bodyPr>
            <a:noAutofit/>
          </a:bodyPr>
          <a:lstStyle/>
          <a:p>
            <a:pPr algn="ctr"/>
            <a:r>
              <a:rPr lang="en-IN" sz="9800" b="1" dirty="0"/>
              <a:t>OBJECTIVE KEY METRICS AND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394732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6A557-0D05-E40C-6CAD-CDF897491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097" y="207809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b="1" u="sng" dirty="0"/>
              <a:t>DEMOGRAPHIC DISTRIBUTION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276610-3CBC-D2A7-3AF9-AE1758EA61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4793695"/>
              </p:ext>
            </p:extLst>
          </p:nvPr>
        </p:nvGraphicFramePr>
        <p:xfrm>
          <a:off x="838200" y="1825625"/>
          <a:ext cx="52578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40B68B-9D02-C140-1C60-8D6A863CA7F4}"/>
              </a:ext>
            </a:extLst>
          </p:cNvPr>
          <p:cNvSpPr txBox="1">
            <a:spLocks/>
          </p:cNvSpPr>
          <p:nvPr/>
        </p:nvSpPr>
        <p:spPr>
          <a:xfrm>
            <a:off x="6600827" y="2061599"/>
            <a:ext cx="5257800" cy="442277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slide provides an overview of the customers distributed across different geographic locations.</a:t>
            </a:r>
          </a:p>
          <a:p>
            <a:pPr fontAlgn="base">
              <a:spcBef>
                <a:spcPts val="0"/>
              </a:spcBef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 has the highest number of customers in the list followed by Canada, France, Brazil and Germany.</a:t>
            </a:r>
          </a:p>
          <a:p>
            <a:pPr fontAlgn="base">
              <a:spcBef>
                <a:spcPts val="0"/>
              </a:spcBef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countries like Portugal, India, Spain, Belgium, Argentina, Norway etc. have 1 or 2 customers. </a:t>
            </a:r>
          </a:p>
          <a:p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86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38976-E10A-1599-99C3-44FB5FCB3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039" y="197976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REVENUE ACROSS COUNTRIES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477077-379A-1247-93FC-2102CAB500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4573518"/>
              </p:ext>
            </p:extLst>
          </p:nvPr>
        </p:nvGraphicFramePr>
        <p:xfrm>
          <a:off x="366250" y="1383173"/>
          <a:ext cx="6830963" cy="5135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63996A-701A-EFCE-2F5A-0B27B43FF073}"/>
              </a:ext>
            </a:extLst>
          </p:cNvPr>
          <p:cNvSpPr txBox="1"/>
          <p:nvPr/>
        </p:nvSpPr>
        <p:spPr>
          <a:xfrm>
            <a:off x="8101781" y="1651819"/>
            <a:ext cx="3333135" cy="4562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9BCE74-8CB4-62BD-184B-F655A0586967}"/>
              </a:ext>
            </a:extLst>
          </p:cNvPr>
          <p:cNvSpPr txBox="1">
            <a:spLocks/>
          </p:cNvSpPr>
          <p:nvPr/>
        </p:nvSpPr>
        <p:spPr>
          <a:xfrm>
            <a:off x="7521677" y="1278194"/>
            <a:ext cx="4336948" cy="4970206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bar chart shows us the revenue based on the track sales in all the countries. </a:t>
            </a:r>
          </a:p>
          <a:p>
            <a:pPr>
              <a:buClr>
                <a:schemeClr val="tx1"/>
              </a:buClr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better visualization, we have considered the top 10 countries in terms of revenue.</a:t>
            </a:r>
          </a:p>
          <a:p>
            <a:pPr>
              <a:buClr>
                <a:schemeClr val="tx1"/>
              </a:buClr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highest sale is in USA with an amount of 1040.49 and 131 purchases, followed by Canada and Brazil in the 2</a:t>
            </a:r>
            <a:r>
              <a:rPr lang="en-IN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3</a:t>
            </a:r>
            <a:r>
              <a:rPr lang="en-IN" baseline="30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places respectively.</a:t>
            </a:r>
          </a:p>
          <a:p>
            <a:pPr>
              <a:buClr>
                <a:schemeClr val="tx1"/>
              </a:buClr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visualization helps us to focus on the sales based on the geographic location.</a:t>
            </a:r>
          </a:p>
        </p:txBody>
      </p:sp>
    </p:spTree>
    <p:extLst>
      <p:ext uri="{BB962C8B-B14F-4D97-AF65-F5344CB8AC3E}">
        <p14:creationId xmlns:p14="http://schemas.microsoft.com/office/powerpoint/2010/main" val="3911475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16751-6955-D8CE-7481-4D27A6F4A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640" y="40661"/>
            <a:ext cx="6919452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TOP SELLING TRACKS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78AEF4-B3E3-9AC9-6BA3-63102837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4760" y="1592366"/>
            <a:ext cx="4599039" cy="4896924"/>
          </a:xfrm>
          <a:noFill/>
        </p:spPr>
        <p:txBody>
          <a:bodyPr>
            <a:noAutofit/>
          </a:bodyPr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displays the top 10 selling tracks in USA which conveys the following:</a:t>
            </a:r>
            <a:endParaRPr lang="en-IN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 Pigs is the highest selling track in 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USA generating a revenue of 62.37 followed by Scentless Apprentice with a revenue of 44.55.</a:t>
            </a: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customers have purchased the track named </a:t>
            </a:r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 Pigs 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comes to the track named </a:t>
            </a:r>
            <a:r>
              <a:rPr lang="en-IN" sz="2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Scentless Appearance.</a:t>
            </a: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information helps in understanding the customer preferences of the tracks based on the purchase.</a:t>
            </a: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4033EA8-0181-4776-4076-71FB34164B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6866123"/>
              </p:ext>
            </p:extLst>
          </p:nvPr>
        </p:nvGraphicFramePr>
        <p:xfrm>
          <a:off x="570271" y="1386348"/>
          <a:ext cx="5935095" cy="46763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13673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1DB3-E4DD-B0E3-5BA9-7222FF15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942" y="0"/>
            <a:ext cx="5651091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TOP SELLING ARTIST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FCD8102-599B-FB66-1543-DEA7DBD9D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4025" y="1347020"/>
            <a:ext cx="4709651" cy="4829944"/>
          </a:xfrm>
          <a:noFill/>
        </p:spPr>
        <p:txBody>
          <a:bodyPr>
            <a:normAutofit/>
          </a:bodyPr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depicts the top selling artists in USA from the given data. We can infer the following from the visual as follows: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 Helen is the top selling artist in USA with a revenue of 525.69 followed by Eric Clapton.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 can help us identify the top artists related to the tracks and genre and also recommend them to the customers who have similar preferences.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C12D0F8-F5BE-4435-A527-3D7C2AA71C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742864"/>
              </p:ext>
            </p:extLst>
          </p:nvPr>
        </p:nvGraphicFramePr>
        <p:xfrm>
          <a:off x="599768" y="1347019"/>
          <a:ext cx="6499122" cy="44736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56368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75A1-4644-C2DF-708F-46D94454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108"/>
            <a:ext cx="10793360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FAMOUS GENRES-(COUNT OF TRACKS SOLD)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1BF0B1-9CB4-0629-280C-7D77B786F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8889" y="1484671"/>
            <a:ext cx="4817808" cy="4935794"/>
          </a:xfrm>
          <a:noFill/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ClrTx/>
            </a:pPr>
            <a:r>
              <a:rPr lang="en-IN" sz="22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observe the top 5 genres in USA with respect to the number of tracks sold.</a:t>
            </a:r>
          </a:p>
          <a:p>
            <a:pPr fontAlgn="base">
              <a:spcBef>
                <a:spcPts val="0"/>
              </a:spcBef>
              <a:buClrTx/>
            </a:pPr>
            <a:endParaRPr lang="en-IN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</a:pPr>
            <a:r>
              <a:rPr lang="en-IN" sz="22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Rock </a:t>
            </a:r>
            <a:r>
              <a:rPr lang="en-IN" sz="2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genre has the most number of tracks sold (413), followed by </a:t>
            </a:r>
            <a:r>
              <a:rPr lang="en-IN" sz="2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&amp; Punk </a:t>
            </a:r>
            <a:r>
              <a:rPr lang="en-IN" sz="2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Metal.</a:t>
            </a:r>
          </a:p>
          <a:p>
            <a:pPr fontAlgn="base">
              <a:spcBef>
                <a:spcPts val="0"/>
              </a:spcBef>
              <a:buClrTx/>
            </a:pPr>
            <a:endParaRPr lang="en-IN" sz="2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</a:pPr>
            <a:r>
              <a:rPr lang="en-IN" sz="2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 helps us to understand the customer’s preferences on genres with which we can recommend similar genres to the customer for future purchases.</a:t>
            </a:r>
            <a:br>
              <a:rPr lang="en-IN" sz="22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661BFB7-7203-457E-95B4-927F9FD4F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0365573"/>
              </p:ext>
            </p:extLst>
          </p:nvPr>
        </p:nvGraphicFramePr>
        <p:xfrm>
          <a:off x="560440" y="1484671"/>
          <a:ext cx="6260689" cy="4699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2014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89D0C-331B-CD12-0226-7DB4171AE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1" y="365126"/>
            <a:ext cx="11838038" cy="1078544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/>
              <a:t>FAMOUS GENRES IN USA IN TERMS OF REVENUE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C34075-D860-E18D-10C7-B164A632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205" y="1918569"/>
            <a:ext cx="4581833" cy="4574305"/>
          </a:xfrm>
          <a:noFill/>
        </p:spPr>
        <p:txBody>
          <a:bodyPr>
            <a:no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chart besides displays the top 5 genres in USA with regard to the revenue generated in terms of sales.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200" b="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Rock </a:t>
            </a:r>
            <a:r>
              <a:rPr lang="en-IN" sz="2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genre has generated the most revenue in USA, followed by </a:t>
            </a:r>
            <a:r>
              <a:rPr lang="en-IN" sz="2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Alternative &amp; Punk </a:t>
            </a:r>
            <a:r>
              <a:rPr lang="en-IN" sz="2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IN" sz="2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Metal.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2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visual helps us to identify the best selling genre and the customer’s music preferences so that recommendations can be done for future purchases.</a:t>
            </a:r>
            <a:endParaRPr lang="en-IN" sz="2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3802BF0-E471-7E3B-AD42-7BE29306D5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9215348"/>
              </p:ext>
            </p:extLst>
          </p:nvPr>
        </p:nvGraphicFramePr>
        <p:xfrm>
          <a:off x="704480" y="1690687"/>
          <a:ext cx="6394409" cy="4802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425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EBAF1-640B-409A-E4D1-685551712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37" y="155994"/>
            <a:ext cx="10772775" cy="1658198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/>
              <a:t>TOP 5 CUSTOMERS IN TOP 5 COUNTRIES WITH HIGHEST REVENUES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D383E6-1288-92D7-1E85-9AED2FD4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677" y="2218915"/>
            <a:ext cx="4826910" cy="4351338"/>
          </a:xfrm>
          <a:noFill/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depicts the customers who made top 5 purchases in their respective countries in terms of revenue.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information can help to target the specific customer segment and also provide recommendations to boost the sales further in the future.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3FE59C-4C6C-4ABD-C40B-0DDEC4D05F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8790002"/>
              </p:ext>
            </p:extLst>
          </p:nvPr>
        </p:nvGraphicFramePr>
        <p:xfrm>
          <a:off x="224413" y="1814192"/>
          <a:ext cx="6916264" cy="44882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6282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6843-0384-19FF-BEB8-2E8356C1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878" y="18255"/>
            <a:ext cx="11235813" cy="1325563"/>
          </a:xfrm>
        </p:spPr>
        <p:txBody>
          <a:bodyPr>
            <a:noAutofit/>
          </a:bodyPr>
          <a:lstStyle/>
          <a:p>
            <a:r>
              <a:rPr lang="en-IN" sz="5000" b="1" dirty="0"/>
              <a:t>TOP SELLING TRACKS FOR CUSTOMERS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604286-3AAB-5C47-75BC-78BDA9052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0" y="1690688"/>
            <a:ext cx="4953000" cy="4486275"/>
          </a:xfrm>
          <a:noFill/>
        </p:spPr>
        <p:txBody>
          <a:bodyPr>
            <a:normAutofit/>
          </a:bodyPr>
          <a:lstStyle/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displays the top selling tracks in USA based on the </a:t>
            </a: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customers. </a:t>
            </a: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there are more customers, we have considered the top 10 customers based on the total sales.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customer named 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Wyatt Girard </a:t>
            </a:r>
            <a:r>
              <a:rPr lang="en-IN" sz="200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made the highest purchase of 23.76 for a single track.</a:t>
            </a:r>
            <a:endParaRPr lang="en-IN" sz="20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chart helps us to get an insight of how much revenue has been generated through the purchases made by various customers.</a:t>
            </a:r>
            <a:endParaRPr lang="en-IN" sz="200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endParaRPr lang="en-IN" sz="20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98436D5-E49C-DC5A-7630-797E13F4AB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752537"/>
              </p:ext>
            </p:extLst>
          </p:nvPr>
        </p:nvGraphicFramePr>
        <p:xfrm>
          <a:off x="265471" y="1563331"/>
          <a:ext cx="6056671" cy="44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70357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F30F-5A23-3D56-07C9-101D06288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612" y="0"/>
            <a:ext cx="7951840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PURCHASE FREQUENCY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81856C-D467-1004-723C-7DFFAB9AB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0060" y="1457786"/>
            <a:ext cx="4505630" cy="5011839"/>
          </a:xfrm>
          <a:noFill/>
        </p:spPr>
        <p:txBody>
          <a:bodyPr>
            <a:noAutofit/>
          </a:bodyPr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displays the purchase frequency of customers which is the average amount of days difference that a customer takes to do a new purchase. 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case, customer 1 makes a purchase on an average of every 74 days which is better compared to the customer who places an order every 128 days in average.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helps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 to determine which customers are active and the customers that are inactive for quite a period of time.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6DB52AB-796C-A0FA-A24D-CCB60E63F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884621"/>
              </p:ext>
            </p:extLst>
          </p:nvPr>
        </p:nvGraphicFramePr>
        <p:xfrm>
          <a:off x="454740" y="1572701"/>
          <a:ext cx="6703143" cy="4395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8500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5B4CA-763D-3D2B-6FCB-0E7F3713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88" y="188145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/>
              <a:t>TRACKS AND GENRE COUNT FOR EACH CUSTOMER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F08124-97A0-6A00-F39E-4EF5D2EAC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5975" y="1690687"/>
            <a:ext cx="3942735" cy="4582292"/>
          </a:xfrm>
          <a:noFill/>
        </p:spPr>
        <p:txBody>
          <a:bodyPr>
            <a:normAutofit/>
          </a:bodyPr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besides shows us the tracks purchased by the customers. It also shows the count of genres associated to those tracks purchased.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ClrTx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example, the customer named </a:t>
            </a:r>
            <a:r>
              <a:rPr lang="en-IN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Jack Smith 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 purchased 99 tracks from 12 different genres which shows a diversity in the purchase made by </a:t>
            </a:r>
            <a:r>
              <a:rPr lang="en-IN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Jack Smith.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40D0FBD-629C-E0B3-5376-495D97588F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9231869"/>
              </p:ext>
            </p:extLst>
          </p:nvPr>
        </p:nvGraphicFramePr>
        <p:xfrm>
          <a:off x="393290" y="1690687"/>
          <a:ext cx="7079226" cy="45822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5947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6003-2145-89AB-EBAD-351EA5A46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0132" y="122480"/>
            <a:ext cx="7843684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CUSTOMER CHURN RATE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1CE30B-7BF0-4E2B-54E7-DD07CA3ECB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5096" y="1675414"/>
            <a:ext cx="5181601" cy="4397324"/>
          </a:xfrm>
          <a:noFill/>
        </p:spPr>
        <p:txBody>
          <a:bodyPr>
            <a:no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customer is considered to be a churned customer if they have not made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purchase in the last 6 months.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Number of customers = 59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Churned customers = 17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Rate = 17 / 59 = 29%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customer churn rate implies that almost 2 in every 7 customers are inactive or churned.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B1175AD-0F91-F4AD-6A7E-8AF28A7464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0682650"/>
              </p:ext>
            </p:extLst>
          </p:nvPr>
        </p:nvGraphicFramePr>
        <p:xfrm>
          <a:off x="511278" y="1707862"/>
          <a:ext cx="5820696" cy="4830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405857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A02EC-EA6C-66EE-EE3C-997F35496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245" y="1199535"/>
            <a:ext cx="10862187" cy="4091781"/>
          </a:xfrm>
        </p:spPr>
        <p:txBody>
          <a:bodyPr>
            <a:noAutofit/>
          </a:bodyPr>
          <a:lstStyle/>
          <a:p>
            <a:pPr algn="ctr"/>
            <a:r>
              <a:rPr lang="en-IN" sz="12000" b="1" dirty="0"/>
              <a:t>SUBJECTIVE ANALYSIS</a:t>
            </a:r>
          </a:p>
        </p:txBody>
      </p:sp>
    </p:spTree>
    <p:extLst>
      <p:ext uri="{BB962C8B-B14F-4D97-AF65-F5344CB8AC3E}">
        <p14:creationId xmlns:p14="http://schemas.microsoft.com/office/powerpoint/2010/main" val="123279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A4E2-817E-7BF4-589A-0F06D49B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5806" y="335629"/>
            <a:ext cx="12437806" cy="1325563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/>
              <a:t>RECOMMENDATIONS BASED ON GENRE SALES ANALYSIS IN USA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CD38AB-5516-81E8-C342-0A423531D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297" y="1730477"/>
            <a:ext cx="5407742" cy="4791894"/>
          </a:xfrm>
          <a:noFill/>
        </p:spPr>
        <p:txBody>
          <a:bodyPr>
            <a:noAutofit/>
          </a:bodyPr>
          <a:lstStyle/>
          <a:p>
            <a:pPr marL="114300" indent="0">
              <a:lnSpc>
                <a:spcPct val="115000"/>
              </a:lnSpc>
              <a:buClrTx/>
              <a:buNone/>
            </a:pPr>
            <a:r>
              <a:rPr lang="en-GB" sz="17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Genre Sales Analysis, the following 3 albums can be prioritised for advertising and promotion in USA:</a:t>
            </a:r>
            <a:endParaRPr lang="en-IN" sz="17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>
              <a:lnSpc>
                <a:spcPct val="115000"/>
              </a:lnSpc>
              <a:buClrTx/>
              <a:buFont typeface="+mj-lt"/>
              <a:buAutoNum type="arabicPeriod"/>
            </a:pPr>
            <a:r>
              <a:rPr lang="en-IN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Rock</a:t>
            </a:r>
            <a:r>
              <a:rPr lang="en-I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857250" lvl="1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list is dominated by rock albums, which have many entries and strong sales. This indicates a large and devoted following, most likely as a result of the genre's enduring appeal in American society.</a:t>
            </a:r>
          </a:p>
          <a:p>
            <a:pPr marL="457200">
              <a:lnSpc>
                <a:spcPct val="115000"/>
              </a:lnSpc>
              <a:buClrTx/>
              <a:buFont typeface="+mj-lt"/>
              <a:buAutoNum type="arabicPeriod"/>
            </a:pPr>
            <a:r>
              <a:rPr lang="en-IN" sz="17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R&amp;B / Soul</a:t>
            </a:r>
            <a:r>
              <a:rPr lang="en-I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857250" lvl="1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cultural significance may be the reason for this genre's great sales, as evidenced by the top album, particularly in areas with deep historical connections to the growth of R&amp;B and Soul.</a:t>
            </a:r>
          </a:p>
          <a:p>
            <a:pPr marL="857250" lvl="1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endParaRPr lang="en-IN" sz="17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1E2CD1-C15F-E47F-0977-FCE51AD3C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7674598"/>
              </p:ext>
            </p:extLst>
          </p:nvPr>
        </p:nvGraphicFramePr>
        <p:xfrm>
          <a:off x="196645" y="1854712"/>
          <a:ext cx="6233652" cy="47918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63965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6538933-5DF0-FB4D-C689-D328B912AAC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50606" y="1992772"/>
            <a:ext cx="10515600" cy="43513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Hip Hop / Rap or Blues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114300" indent="0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genres of hip hop, rap, and blues have devoted but specialized fan bases. </a:t>
            </a:r>
          </a:p>
          <a:p>
            <a:pPr marL="114300" indent="0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1. Hip Hop/Rap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especially popular among younger audiences and urban areas, where the genre often addresses themes relevant to modern life and youth culture. </a:t>
            </a:r>
          </a:p>
          <a:p>
            <a:pPr marL="114300" indent="0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2. Blues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on the other hand, appeals to audiences interested in traditional American music roots, particularly in regions with historic ties to the genre.</a:t>
            </a:r>
          </a:p>
          <a:p>
            <a:pPr marL="114300" indent="0">
              <a:lnSpc>
                <a:spcPct val="115000"/>
              </a:lnSpc>
              <a:buFont typeface="Arial" panose="020B0604020202020204" pitchFamily="34" charset="0"/>
              <a:buNone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Hence, the three albums recommended based on the Genre Sales Analysis are [Rock], [R&amp;B/Soul], [Hip Hop/Rap or Blues].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644C03-78CC-E93D-96BE-717099D1FAAA}"/>
              </a:ext>
            </a:extLst>
          </p:cNvPr>
          <p:cNvSpPr txBox="1"/>
          <p:nvPr/>
        </p:nvSpPr>
        <p:spPr>
          <a:xfrm>
            <a:off x="550606" y="68826"/>
            <a:ext cx="113562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000" b="1" dirty="0">
                <a:solidFill>
                  <a:schemeClr val="accent1"/>
                </a:solidFill>
              </a:rPr>
              <a:t>RECOMMENDATIONS BASED ON GENRE SALES ANALYSIS IN USA</a:t>
            </a:r>
            <a:endParaRPr lang="en-IN" sz="5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6533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6F26-2594-F39F-2849-5DCA58E9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76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/>
              <a:t>FAMOUS GENRES IN COUNTRIES OTHER THAN USA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DD1802-35F8-9385-1BBC-E3382AEFC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4200" y="1690688"/>
            <a:ext cx="4530969" cy="5056546"/>
          </a:xfrm>
          <a:noFill/>
        </p:spPr>
        <p:txBody>
          <a:bodyPr>
            <a:norm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observe some similarities in terms of famous genres in countries other than USA vs USA. 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both the cases, we can observe that Rock is the most famous Genre. 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2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3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places are interchanged in case of countries other than USA. Metal is the second popular genre in countries other than USA, followed by Alternative &amp; Punk.</a:t>
            </a:r>
            <a:endParaRPr lang="en-IN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5411D28-0139-B741-6A56-70B9D15874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1458252"/>
              </p:ext>
            </p:extLst>
          </p:nvPr>
        </p:nvGraphicFramePr>
        <p:xfrm>
          <a:off x="726831" y="1436329"/>
          <a:ext cx="5900110" cy="2723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21C87C5-7B5B-9537-3CC2-814CA7F01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68" y="4532671"/>
            <a:ext cx="6027174" cy="22145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29133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E980-40F5-EEC2-0C82-05F21ED8F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877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/>
              <a:t>TOP 10 CUSTOMERS WITH HIGHEST REVENUES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B97FD1-D6F5-E81E-F483-D795B8C1D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8658" y="1690688"/>
            <a:ext cx="3655142" cy="4486275"/>
          </a:xfrm>
          <a:noFill/>
        </p:spPr>
        <p:txBody>
          <a:bodyPr>
            <a:normAutofit/>
          </a:bodyPr>
          <a:lstStyle/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top 10 customers with highest revenues across the world is being displayed in the visual on the left.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red bar specifies the total spent by the customer.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blue bar represents the count of tracks sold.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 can help us understand the purchasing pattern of the customers.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BC21CB-3961-83D1-BBA2-F77445D85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96" y="1570397"/>
            <a:ext cx="6898846" cy="44862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9365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3C135-A9E2-7FE2-FC38-9DAA0731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432" y="237306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PRODUCT AFFINITY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0F9897-6AAC-9B33-A23E-3D227E2B4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7612" y="1710813"/>
            <a:ext cx="5090651" cy="4544808"/>
          </a:xfrm>
          <a:noFill/>
        </p:spPr>
        <p:txBody>
          <a:bodyPr>
            <a:noAutofit/>
          </a:bodyPr>
          <a:lstStyle/>
          <a:p>
            <a:pPr marL="400050" indent="-285750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Genres:</a:t>
            </a:r>
            <a:endParaRPr lang="en-IN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three considered customers </a:t>
            </a:r>
            <a:r>
              <a:rPr lang="en-IN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</a:t>
            </a: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Rock and Metal genres, indicating a shared preference for these types of music.</a:t>
            </a:r>
          </a:p>
          <a:p>
            <a:pPr marL="400050" indent="-285750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Recommendations: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pPr marL="800100" lvl="1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Suggesting related genres (such as Blues or Alternative) or introducing musicians inside Rock and Metal may work well for clients like Frank who buy a lot of this genre.</a:t>
            </a:r>
          </a:p>
          <a:p>
            <a:pPr marL="400050" indent="-285750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Cross-Selling Initiatives:</a:t>
            </a:r>
          </a:p>
          <a:p>
            <a:pPr lvl="1"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 rock, metal, and alternative and punk music are always in style, make customized playlists for every client that feature their best songs.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1FEA92-5374-26E8-D637-B86348108A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4773272"/>
              </p:ext>
            </p:extLst>
          </p:nvPr>
        </p:nvGraphicFramePr>
        <p:xfrm>
          <a:off x="235974" y="1467465"/>
          <a:ext cx="6351638" cy="5031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0898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AC81-4B81-EFD2-F53B-0280B935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5051" y="18256"/>
            <a:ext cx="7538884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REGIONAL MARKET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30A520B-0C4D-C7B3-61C8-501B653E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24800" y="1887562"/>
            <a:ext cx="4060723" cy="4092524"/>
          </a:xfrm>
          <a:noFill/>
        </p:spPr>
        <p:txBody>
          <a:bodyPr>
            <a:noAutofit/>
          </a:bodyPr>
          <a:lstStyle/>
          <a:p>
            <a:pPr marL="0" indent="0" algn="just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customer churn, the regional market analysis is performed which gives the following insights: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customer is considered to be churned if they have not made any purchases in the last 6 months.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visualize that countries like Finland, Australia, India, Spain etc. have 0 churn rate which indicates that the customers in these regions are active and make frequent purchases.</a:t>
            </a:r>
          </a:p>
          <a:p>
            <a:pPr marL="0" indent="0" algn="just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149B0D9-8354-2131-D63D-4F500DD4A9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2426195"/>
              </p:ext>
            </p:extLst>
          </p:nvPr>
        </p:nvGraphicFramePr>
        <p:xfrm>
          <a:off x="206477" y="1690687"/>
          <a:ext cx="7355267" cy="4486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959226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079B-F28E-78A4-29F3-B8695358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297" y="131331"/>
            <a:ext cx="10515600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REGIONAL MARKET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74D0C0-A253-4C43-D521-345993FB8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2" y="1495762"/>
            <a:ext cx="4313902" cy="4505940"/>
          </a:xfrm>
          <a:noFill/>
        </p:spPr>
        <p:txBody>
          <a:bodyPr>
            <a:noAutofit/>
          </a:bodyPr>
          <a:lstStyle/>
          <a:p>
            <a:pPr marL="0" indent="0" algn="just" rtl="0" fontAlgn="base">
              <a:spcBef>
                <a:spcPts val="0"/>
              </a:spcBef>
              <a:spcAft>
                <a:spcPts val="0"/>
              </a:spcAft>
              <a:buClrTx/>
              <a:buNone/>
            </a:pPr>
            <a:r>
              <a:rPr lang="en-IN" sz="2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Based on the customer average spend, the regional market analysis is performed which gives the following insights: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high purchase value indicates that the customers in those locations place orders actively. The sales expansion can be further done in these locations.</a:t>
            </a:r>
            <a:endParaRPr lang="en-IN" sz="22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long history of infrequent purchases suggests a low-engagement customer who is more likely to churn. </a:t>
            </a:r>
            <a:endParaRPr lang="en-IN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0BA56F3-E753-67CB-A3AD-07593BA2F4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2170382"/>
              </p:ext>
            </p:extLst>
          </p:nvPr>
        </p:nvGraphicFramePr>
        <p:xfrm>
          <a:off x="223192" y="1456894"/>
          <a:ext cx="6708550" cy="5055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05772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EF228-EE0D-EF9A-7C0F-F3CBE04B1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82" y="223388"/>
            <a:ext cx="10772775" cy="1658198"/>
          </a:xfrm>
        </p:spPr>
        <p:txBody>
          <a:bodyPr>
            <a:normAutofit/>
          </a:bodyPr>
          <a:lstStyle/>
          <a:p>
            <a:pPr algn="ctr"/>
            <a:r>
              <a:rPr lang="en-IN" sz="5000" b="1" dirty="0"/>
              <a:t>RISK PROFILING BASED ON CUSTOMER CHURN RATE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A898C4-646B-4F10-706B-9C505FF25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000" y="1553035"/>
            <a:ext cx="5033194" cy="1325563"/>
          </a:xfrm>
          <a:noFill/>
        </p:spPr>
        <p:txBody>
          <a:bodyPr>
            <a:noAutofit/>
          </a:bodyPr>
          <a:lstStyle/>
          <a:p>
            <a:pPr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calculating churn rates by country, we can determine if certain geographical segments show consistently high churn. These rates could indicate potential service, product, or market fit issues within specific locations. </a:t>
            </a:r>
          </a:p>
          <a:p>
            <a:pPr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Additionally, high-volume spenders who show purchase frequency drops could signify declining interest, indicating an at-risk, high-value customer.</a:t>
            </a:r>
          </a:p>
          <a:p>
            <a:pPr>
              <a:lnSpc>
                <a:spcPct val="115000"/>
              </a:lnSpc>
              <a:buClrTx/>
              <a:buFont typeface="Arial" panose="020B0604020202020204" pitchFamily="34" charset="0"/>
              <a:buChar char="•"/>
            </a:pP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D121B27-262B-49B4-BFA0-A0BDA56E0D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3470002"/>
              </p:ext>
            </p:extLst>
          </p:nvPr>
        </p:nvGraphicFramePr>
        <p:xfrm>
          <a:off x="245806" y="1690687"/>
          <a:ext cx="6449962" cy="4802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7DC5FCD-202E-5004-B302-9BEAB3F585D7}"/>
              </a:ext>
            </a:extLst>
          </p:cNvPr>
          <p:cNvSpPr txBox="1">
            <a:spLocks/>
          </p:cNvSpPr>
          <p:nvPr/>
        </p:nvSpPr>
        <p:spPr>
          <a:xfrm>
            <a:off x="6912999" y="3879695"/>
            <a:ext cx="5033195" cy="97831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5000"/>
              </a:lnSpc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low purchase frequency (like the 180-day interval in this analysis) are at higher risk of churn. These customers may only respond to specific promotional periods or are less invested in the brand’s products.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</a:pP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high-churn countries, consider deploying localized marketing campaigns and enhancing service offerings to improve customer satisfaction.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927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3615-CA0A-99CD-79DB-B94185891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189817"/>
            <a:ext cx="10772775" cy="1658198"/>
          </a:xfrm>
        </p:spPr>
        <p:txBody>
          <a:bodyPr>
            <a:normAutofit/>
          </a:bodyPr>
          <a:lstStyle/>
          <a:p>
            <a:r>
              <a:rPr lang="en-IN" sz="5000" b="1" dirty="0"/>
              <a:t>CLV MODELING: CUSTOMER TENURE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27E7B2-2E2F-9205-04A2-81425C66B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903" y="1690228"/>
            <a:ext cx="4559710" cy="4486275"/>
          </a:xfrm>
          <a:noFill/>
        </p:spPr>
        <p:txBody>
          <a:bodyPr>
            <a:normAutofit lnSpcReduction="10000"/>
          </a:bodyPr>
          <a:lstStyle/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c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alculate the total spend and purchase frequency for each customer by summing up total from invoice and </a:t>
            </a:r>
            <a:r>
              <a:rPr lang="en-GB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GB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purchase dates.</a:t>
            </a:r>
            <a:endParaRPr lang="en-IN" sz="1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a high value in </a:t>
            </a:r>
            <a:r>
              <a:rPr lang="en-IN" sz="1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days_since_last_purchase</a:t>
            </a: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at greater risk of being lost if they haven’t made purchases recently. These customers can be targeted with win-back campaigns.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with long tenures but recent inactivity could be sent targeted re-engagement emails with discounts or exclusive offers.</a:t>
            </a:r>
          </a:p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IN" sz="1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3AD264E-B219-5C3B-5CC6-7880AEEA60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9253187"/>
              </p:ext>
            </p:extLst>
          </p:nvPr>
        </p:nvGraphicFramePr>
        <p:xfrm>
          <a:off x="157316" y="1524000"/>
          <a:ext cx="6636774" cy="4968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34766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D1D9-36A6-F4A1-1C33-C55B8FB2B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294465"/>
            <a:ext cx="11415252" cy="1007162"/>
          </a:xfrm>
        </p:spPr>
        <p:txBody>
          <a:bodyPr>
            <a:noAutofit/>
          </a:bodyPr>
          <a:lstStyle/>
          <a:p>
            <a:r>
              <a:rPr lang="en-IN" sz="5000" b="1" dirty="0"/>
              <a:t>CLV MODELING: AVERAGE ORDER VALUE(AOV)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BC816E5-BB3E-5839-2A02-BCFBD914A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48" y="1409782"/>
            <a:ext cx="4245077" cy="4475982"/>
          </a:xfrm>
          <a:noFill/>
        </p:spPr>
        <p:txBody>
          <a:bodyPr>
            <a:noAutofit/>
          </a:bodyPr>
          <a:lstStyle/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GB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who buy infrequently but have a high Average Order Value may be responsive to limited-time offers or exclusive items.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customers with a high average order value and frequent purchases. These are prime targets for loyalty programs.</a:t>
            </a:r>
          </a:p>
          <a:p>
            <a:pPr>
              <a:lnSpc>
                <a:spcPct val="115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Observing patterns in demographics or specific genres could help tailor marketing efforts.</a:t>
            </a:r>
            <a:endParaRPr lang="en-IN" sz="2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ADDBFC2-8E26-415D-A0C8-17069ABA9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5420615"/>
              </p:ext>
            </p:extLst>
          </p:nvPr>
        </p:nvGraphicFramePr>
        <p:xfrm>
          <a:off x="84558" y="1409782"/>
          <a:ext cx="6906176" cy="25329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F850A85-03B4-4A1D-9DC5-54D1D3A1D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2426165"/>
              </p:ext>
            </p:extLst>
          </p:nvPr>
        </p:nvGraphicFramePr>
        <p:xfrm>
          <a:off x="84558" y="4050890"/>
          <a:ext cx="6906177" cy="2664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650685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D7D6A-9CAF-0121-B856-62EF1380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374" y="67298"/>
            <a:ext cx="9854381" cy="1127322"/>
          </a:xfrm>
        </p:spPr>
        <p:txBody>
          <a:bodyPr>
            <a:normAutofit/>
          </a:bodyPr>
          <a:lstStyle/>
          <a:p>
            <a:r>
              <a:rPr lang="en-IN" sz="5000" b="1" dirty="0"/>
              <a:t>CUSTOMER PURCHASING POWER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9270A7-480C-0580-8F64-1DA9AC988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6209" y="1179872"/>
            <a:ext cx="4107426" cy="4161350"/>
          </a:xfrm>
          <a:noFill/>
        </p:spPr>
        <p:txBody>
          <a:bodyPr>
            <a:no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visual illustrates the average amount spent by each customer in each country from the given data.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observe that Czech Republic has the highest average total spent (136.62) per customer followed by Ireland (114.84).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 provides us an idea of the customer distribution across the geographic locations and the spending pattern of customers in these locations.</a:t>
            </a:r>
            <a:endParaRPr lang="en-IN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C9301D8-F966-2334-C7BB-B6479C168B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1674543"/>
              </p:ext>
            </p:extLst>
          </p:nvPr>
        </p:nvGraphicFramePr>
        <p:xfrm>
          <a:off x="308365" y="1378113"/>
          <a:ext cx="7170420" cy="4798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4886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557F-67B8-05D0-9173-7BE420C83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26" y="106745"/>
            <a:ext cx="11901947" cy="1325563"/>
          </a:xfrm>
        </p:spPr>
        <p:txBody>
          <a:bodyPr>
            <a:noAutofit/>
          </a:bodyPr>
          <a:lstStyle/>
          <a:p>
            <a:pPr algn="ctr"/>
            <a:r>
              <a:rPr lang="en-IN" sz="5000" b="1" dirty="0"/>
              <a:t>CUSTOMER PURCHASING BEHAVIOUR ANALYSIS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50EC81-7F82-78F5-C53E-AC1870E82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135"/>
            <a:ext cx="10515600" cy="4351338"/>
          </a:xfrm>
          <a:noFill/>
        </p:spPr>
        <p:txBody>
          <a:bodyPr>
            <a:noAutofit/>
          </a:bodyPr>
          <a:lstStyle/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</a:t>
            </a:r>
            <a:r>
              <a:rPr lang="en-IN" sz="20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purchasing behavior differences between long-term and new customers based on the following metrics: 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Purchase Frequency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most cases, frequent customers make more purchases, particularly if they are very brand loyal. This might be demonstrated by comparing the average frequency of purchases over a given time period. Regular purchases might provide insights for loyalty programs or special deals that promote ongoing participation.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Basket Size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Long-term consumers may have greater basket sizes, which suggests that they have more trust in the brand and a willingness to explore more products. Finding product combinations that are often purchased might help inform tailored cross-selling and upselling suggestions.</a:t>
            </a:r>
          </a:p>
          <a:p>
            <a:pPr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Spending Amount</a:t>
            </a:r>
            <a:r>
              <a:rPr lang="en-IN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lvl="1">
              <a:lnSpc>
                <a:spcPct val="10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new customers, offering introductory discounts could encourage initial spending, while targeted promotions for long-term customers could maintain or increase their average spend.</a:t>
            </a:r>
          </a:p>
        </p:txBody>
      </p:sp>
    </p:spTree>
    <p:extLst>
      <p:ext uri="{BB962C8B-B14F-4D97-AF65-F5344CB8AC3E}">
        <p14:creationId xmlns:p14="http://schemas.microsoft.com/office/powerpoint/2010/main" val="29575458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3BEE-6D1F-FE7D-9089-D5F3F3990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386" y="286467"/>
            <a:ext cx="4323736" cy="1325563"/>
          </a:xfrm>
        </p:spPr>
        <p:txBody>
          <a:bodyPr>
            <a:normAutofit/>
          </a:bodyPr>
          <a:lstStyle/>
          <a:p>
            <a:r>
              <a:rPr lang="en-IN" sz="5000" b="1" dirty="0"/>
              <a:t>CONCLUSION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15386D-1A6C-672E-4986-4223D9A0F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1690688"/>
            <a:ext cx="10970342" cy="4564933"/>
          </a:xfrm>
          <a:noFill/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This analysis provides valuable insights into customer purchasing behavior, regional preferences, and popular music genres, helping businesses make data-driven decisions. By identifying high-value customers and analyzing purchase frequency, companies can create effective strategies to re-engage inactive customers and improve customer retention.</a:t>
            </a:r>
          </a:p>
          <a:p>
            <a:r>
              <a:rPr lang="en-US" dirty="0"/>
              <a:t>The findings also show the popularity of genres like Rock across different locations, enabling targeted recommendations, cross-selling, and upselling opportunities. Additionally, comparing the purchasing patterns of new and long-term customers helps businesses design better loyalty programs and personalized offers to increase customer satisfaction and long-term engagement.</a:t>
            </a:r>
          </a:p>
        </p:txBody>
      </p:sp>
    </p:spTree>
    <p:extLst>
      <p:ext uri="{BB962C8B-B14F-4D97-AF65-F5344CB8AC3E}">
        <p14:creationId xmlns:p14="http://schemas.microsoft.com/office/powerpoint/2010/main" val="3659130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6065D-21D5-64EF-AAB1-27D710DE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3813" y="2410234"/>
            <a:ext cx="6762135" cy="1325563"/>
          </a:xfrm>
        </p:spPr>
        <p:txBody>
          <a:bodyPr>
            <a:noAutofit/>
          </a:bodyPr>
          <a:lstStyle/>
          <a:p>
            <a:r>
              <a:rPr lang="en-IN" sz="10000" b="1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263622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312</TotalTime>
  <Words>2290</Words>
  <Application>Microsoft Office PowerPoint</Application>
  <PresentationFormat>Widescreen</PresentationFormat>
  <Paragraphs>190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Metropolitan</vt:lpstr>
      <vt:lpstr>PowerPoint Presentation</vt:lpstr>
      <vt:lpstr>Agenda</vt:lpstr>
      <vt:lpstr>Problem Statement</vt:lpstr>
      <vt:lpstr>Database Schema</vt:lpstr>
      <vt:lpstr>OBJECTIVE KEY METRICS AND VISUALIZATIONS</vt:lpstr>
      <vt:lpstr>DEMOGRAPHIC DISTRIBUTION</vt:lpstr>
      <vt:lpstr>REVENUE ACROSS COUNTRIES</vt:lpstr>
      <vt:lpstr>TOP SELLING TRACKS</vt:lpstr>
      <vt:lpstr>TOP SELLING ARTIST</vt:lpstr>
      <vt:lpstr>FAMOUS GENRES-(COUNT OF TRACKS SOLD)</vt:lpstr>
      <vt:lpstr>FAMOUS GENRES IN USA IN TERMS OF REVENUE</vt:lpstr>
      <vt:lpstr>TOP 5 CUSTOMERS IN TOP 5 COUNTRIES WITH HIGHEST REVENUES</vt:lpstr>
      <vt:lpstr>TOP SELLING TRACKS FOR CUSTOMERS</vt:lpstr>
      <vt:lpstr>PURCHASE FREQUENCY</vt:lpstr>
      <vt:lpstr>TRACKS AND GENRE COUNT FOR EACH CUSTOMER</vt:lpstr>
      <vt:lpstr>CUSTOMER CHURN RATE</vt:lpstr>
      <vt:lpstr>SUBJECTIVE ANALYSIS</vt:lpstr>
      <vt:lpstr>RECOMMENDATIONS BASED ON GENRE SALES ANALYSIS IN USA</vt:lpstr>
      <vt:lpstr>PowerPoint Presentation</vt:lpstr>
      <vt:lpstr>FAMOUS GENRES IN COUNTRIES OTHER THAN USA</vt:lpstr>
      <vt:lpstr>TOP 10 CUSTOMERS WITH HIGHEST REVENUES</vt:lpstr>
      <vt:lpstr>PRODUCT AFFINITY ANALYSIS</vt:lpstr>
      <vt:lpstr>REGIONAL MARKET ANALYSIS</vt:lpstr>
      <vt:lpstr>REGIONAL MARKET ANALYSIS</vt:lpstr>
      <vt:lpstr>RISK PROFILING BASED ON CUSTOMER CHURN RATE</vt:lpstr>
      <vt:lpstr>CLV MODELING: CUSTOMER TENURE</vt:lpstr>
      <vt:lpstr>CLV MODELING: AVERAGE ORDER VALUE(AOV)</vt:lpstr>
      <vt:lpstr>CUSTOMER PURCHASING POWER</vt:lpstr>
      <vt:lpstr>CUSTOMER PURCHASING BEHAVIOUR ANALYSIS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Dhruv Agarwal</dc:creator>
  <cp:lastModifiedBy>Ram kumar</cp:lastModifiedBy>
  <cp:revision>7</cp:revision>
  <dcterms:created xsi:type="dcterms:W3CDTF">2026-06-28T07:20:44Z</dcterms:created>
  <dcterms:modified xsi:type="dcterms:W3CDTF">2026-09-30T05:00:14Z</dcterms:modified>
</cp:coreProperties>
</file>